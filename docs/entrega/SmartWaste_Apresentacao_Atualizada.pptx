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c3ecd218c343ee" /><Relationship Type="http://schemas.openxmlformats.org/officeDocument/2006/relationships/extended-properties" Target="/docProps/app.xml" Id="Ra39f7d65acd746e7" /><Relationship Type="http://schemas.openxmlformats.org/officeDocument/2006/relationships/officeDocument" Target="/ppt/presentation.xml" Id="R7e33bbf65e824f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97a2fa95c24758"/>
  </p:sldMasterIdLst>
  <p:notesMasterIdLst>
    <p:notesMasterId xmlns:r="http://schemas.openxmlformats.org/officeDocument/2006/relationships" r:id="R31957c06a81548f4"/>
  </p:notesMasterIdLst>
  <p:sldIdLst>
    <p:sldId xmlns:r="http://schemas.openxmlformats.org/officeDocument/2006/relationships" id="256" r:id="Rd3f07900d77c401f"/>
    <p:sldId xmlns:r="http://schemas.openxmlformats.org/officeDocument/2006/relationships" id="257" r:id="R1502defbd6f54b39"/>
    <p:sldId xmlns:r="http://schemas.openxmlformats.org/officeDocument/2006/relationships" id="258" r:id="R4214101edf494f32"/>
    <p:sldId xmlns:r="http://schemas.openxmlformats.org/officeDocument/2006/relationships" id="259" r:id="R8798cf9d02d8462f"/>
    <p:sldId xmlns:r="http://schemas.openxmlformats.org/officeDocument/2006/relationships" id="260" r:id="R6b3c8e0fd566445a"/>
    <p:sldId xmlns:r="http://schemas.openxmlformats.org/officeDocument/2006/relationships" id="261" r:id="R3aaa82e8528143f4"/>
    <p:sldId xmlns:r="http://schemas.openxmlformats.org/officeDocument/2006/relationships" id="262" r:id="R7d3179a2637d4c4b"/>
    <p:sldId xmlns:r="http://schemas.openxmlformats.org/officeDocument/2006/relationships" id="263" r:id="R34660f8f4a9d4809"/>
    <p:sldId xmlns:r="http://schemas.openxmlformats.org/officeDocument/2006/relationships" id="264" r:id="R496921048ea14ad7"/>
    <p:sldId xmlns:r="http://schemas.openxmlformats.org/officeDocument/2006/relationships" id="265" r:id="R12fdd293358d4946"/>
    <p:sldId xmlns:r="http://schemas.openxmlformats.org/officeDocument/2006/relationships" id="266" r:id="R95f7f986340b4d1d"/>
    <p:sldId xmlns:r="http://schemas.openxmlformats.org/officeDocument/2006/relationships" id="267" r:id="Rc4580450e804404e"/>
    <p:sldId xmlns:r="http://schemas.openxmlformats.org/officeDocument/2006/relationships" id="268" r:id="Ra92d51e37edd48a5"/>
    <p:sldId xmlns:r="http://schemas.openxmlformats.org/officeDocument/2006/relationships" id="269" r:id="Recd966968d734f0f"/>
    <p:sldId xmlns:r="http://schemas.openxmlformats.org/officeDocument/2006/relationships" id="270" r:id="R9ec6dca72f674e52"/>
    <p:sldId xmlns:r="http://schemas.openxmlformats.org/officeDocument/2006/relationships" id="271" r:id="Rc6d802e2de8e45a9"/>
    <p:sldId xmlns:r="http://schemas.openxmlformats.org/officeDocument/2006/relationships" id="272" r:id="R0815fd8a6ec84adc"/>
    <p:sldId xmlns:r="http://schemas.openxmlformats.org/officeDocument/2006/relationships" id="273" r:id="R540d77d8ee084969"/>
    <p:sldId xmlns:r="http://schemas.openxmlformats.org/officeDocument/2006/relationships" id="274" r:id="Rbf69d13871474b97"/>
    <p:sldId xmlns:r="http://schemas.openxmlformats.org/officeDocument/2006/relationships" id="275" r:id="Raa8b2602a2274f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b8925b3df64638" /><Relationship Type="http://schemas.openxmlformats.org/officeDocument/2006/relationships/slideMaster" Target="/ppt/slideMasters/slideMaster1.xml" Id="R7097a2fa95c24758" /><Relationship Type="http://schemas.openxmlformats.org/officeDocument/2006/relationships/notesMaster" Target="/ppt/notesMasters/notesMaster1.xml" Id="R31957c06a81548f4" /><Relationship Type="http://schemas.openxmlformats.org/officeDocument/2006/relationships/presProps" Target="/ppt/presProps.xml" Id="Ra319fd18f8f140aa" /><Relationship Type="http://schemas.openxmlformats.org/officeDocument/2006/relationships/tableStyles" Target="/ppt/tableStyles.xml" Id="Rd03879baea6c4a73" /><Relationship Type="http://schemas.openxmlformats.org/officeDocument/2006/relationships/slide" Target="/ppt/slides/slide1.xml" Id="Rd3f07900d77c401f" /><Relationship Type="http://schemas.openxmlformats.org/officeDocument/2006/relationships/slide" Target="/ppt/slides/slide2.xml" Id="R1502defbd6f54b39" /><Relationship Type="http://schemas.openxmlformats.org/officeDocument/2006/relationships/slide" Target="/ppt/slides/slide3.xml" Id="R4214101edf494f32" /><Relationship Type="http://schemas.openxmlformats.org/officeDocument/2006/relationships/slide" Target="/ppt/slides/slide4.xml" Id="R8798cf9d02d8462f" /><Relationship Type="http://schemas.openxmlformats.org/officeDocument/2006/relationships/slide" Target="/ppt/slides/slide5.xml" Id="R6b3c8e0fd566445a" /><Relationship Type="http://schemas.openxmlformats.org/officeDocument/2006/relationships/slide" Target="/ppt/slides/slide6.xml" Id="R3aaa82e8528143f4" /><Relationship Type="http://schemas.openxmlformats.org/officeDocument/2006/relationships/slide" Target="/ppt/slides/slide7.xml" Id="R7d3179a2637d4c4b" /><Relationship Type="http://schemas.openxmlformats.org/officeDocument/2006/relationships/slide" Target="/ppt/slides/slide8.xml" Id="R34660f8f4a9d4809" /><Relationship Type="http://schemas.openxmlformats.org/officeDocument/2006/relationships/slide" Target="/ppt/slides/slide9.xml" Id="R496921048ea14ad7" /><Relationship Type="http://schemas.openxmlformats.org/officeDocument/2006/relationships/slide" Target="/ppt/slides/slide10.xml" Id="R12fdd293358d4946" /><Relationship Type="http://schemas.openxmlformats.org/officeDocument/2006/relationships/slide" Target="/ppt/slides/slide11.xml" Id="R95f7f986340b4d1d" /><Relationship Type="http://schemas.openxmlformats.org/officeDocument/2006/relationships/slide" Target="/ppt/slides/slide12.xml" Id="Rc4580450e804404e" /><Relationship Type="http://schemas.openxmlformats.org/officeDocument/2006/relationships/slide" Target="/ppt/slides/slide13.xml" Id="Ra92d51e37edd48a5" /><Relationship Type="http://schemas.openxmlformats.org/officeDocument/2006/relationships/slide" Target="/ppt/slides/slide14.xml" Id="Recd966968d734f0f" /><Relationship Type="http://schemas.openxmlformats.org/officeDocument/2006/relationships/slide" Target="/ppt/slides/slide15.xml" Id="R9ec6dca72f674e52" /><Relationship Type="http://schemas.openxmlformats.org/officeDocument/2006/relationships/slide" Target="/ppt/slides/slide16.xml" Id="Rc6d802e2de8e45a9" /><Relationship Type="http://schemas.openxmlformats.org/officeDocument/2006/relationships/slide" Target="/ppt/slides/slide17.xml" Id="R0815fd8a6ec84adc" /><Relationship Type="http://schemas.openxmlformats.org/officeDocument/2006/relationships/slide" Target="/ppt/slides/slide18.xml" Id="R540d77d8ee084969" /><Relationship Type="http://schemas.openxmlformats.org/officeDocument/2006/relationships/slide" Target="/ppt/slides/slide19.xml" Id="Rbf69d13871474b97" /><Relationship Type="http://schemas.openxmlformats.org/officeDocument/2006/relationships/slide" Target="/ppt/slides/slide20.xml" Id="Raa8b2602a2274f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d1282d0e6b44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b8684af44049a5" /><Relationship Type="http://schemas.openxmlformats.org/officeDocument/2006/relationships/notesMaster" Target="/ppt/notesMasters/notesMaster1.xml" Id="R56c6547e0e0f4f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cc0c70d1ec407c" /><Relationship Type="http://schemas.openxmlformats.org/officeDocument/2006/relationships/notesMaster" Target="/ppt/notesMasters/notesMaster1.xml" Id="R35616d7fabb84a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66f67f9970426a" /><Relationship Type="http://schemas.openxmlformats.org/officeDocument/2006/relationships/notesMaster" Target="/ppt/notesMasters/notesMaster1.xml" Id="R15b977695a884a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eb6003a1264a1e" /><Relationship Type="http://schemas.openxmlformats.org/officeDocument/2006/relationships/notesMaster" Target="/ppt/notesMasters/notesMaster1.xml" Id="R29971a8af02b40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1779c4462b46b8" /><Relationship Type="http://schemas.openxmlformats.org/officeDocument/2006/relationships/notesMaster" Target="/ppt/notesMasters/notesMaster1.xml" Id="R87139571beb048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74b78d5afa46cb" /><Relationship Type="http://schemas.openxmlformats.org/officeDocument/2006/relationships/notesMaster" Target="/ppt/notesMasters/notesMaster1.xml" Id="R52f8d6357a924c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ba1f13cfcb4c07" /><Relationship Type="http://schemas.openxmlformats.org/officeDocument/2006/relationships/notesMaster" Target="/ppt/notesMasters/notesMaster1.xml" Id="Re9c619df60de4d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ba26af79ca43b4" /><Relationship Type="http://schemas.openxmlformats.org/officeDocument/2006/relationships/notesMaster" Target="/ppt/notesMasters/notesMaster1.xml" Id="Rc5ee6614465d45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ccfd716be74c67" /><Relationship Type="http://schemas.openxmlformats.org/officeDocument/2006/relationships/notesMaster" Target="/ppt/notesMasters/notesMaster1.xml" Id="R1961d370e21c4d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078f8593344618" /><Relationship Type="http://schemas.openxmlformats.org/officeDocument/2006/relationships/notesMaster" Target="/ppt/notesMasters/notesMaster1.xml" Id="Rdc78cf50b5314a6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96fa716bf4f441e" /><Relationship Type="http://schemas.openxmlformats.org/officeDocument/2006/relationships/notesMaster" Target="/ppt/notesMasters/notesMaster1.xml" Id="Re8b7a7b028ed42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8d836764b7478b" /><Relationship Type="http://schemas.openxmlformats.org/officeDocument/2006/relationships/notesMaster" Target="/ppt/notesMasters/notesMaster1.xml" Id="R7bd456d600c24a2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a04e59eb0df4109" /><Relationship Type="http://schemas.openxmlformats.org/officeDocument/2006/relationships/notesMaster" Target="/ppt/notesMasters/notesMaster1.xml" Id="Rfe7f3d0de44342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7337ac134454d95" /><Relationship Type="http://schemas.openxmlformats.org/officeDocument/2006/relationships/notesMaster" Target="/ppt/notesMasters/notesMaster1.xml" Id="R7c8ce4f121b44cc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bf710cb1ff4c88" /><Relationship Type="http://schemas.openxmlformats.org/officeDocument/2006/relationships/notesMaster" Target="/ppt/notesMasters/notesMaster1.xml" Id="R0b6f030404a44d3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73fc33cfc3841c2" /><Relationship Type="http://schemas.openxmlformats.org/officeDocument/2006/relationships/notesMaster" Target="/ppt/notesMasters/notesMaster1.xml" Id="R549846fefb904d1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4c5ce73c02b4b6c" /><Relationship Type="http://schemas.openxmlformats.org/officeDocument/2006/relationships/notesMaster" Target="/ppt/notesMasters/notesMaster1.xml" Id="Rdc6255ed7492462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9dd5e9aa0504dc0" /><Relationship Type="http://schemas.openxmlformats.org/officeDocument/2006/relationships/notesMaster" Target="/ppt/notesMasters/notesMaster1.xml" Id="Rce3b435910c842c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d349d6535a34c7e" /><Relationship Type="http://schemas.openxmlformats.org/officeDocument/2006/relationships/notesMaster" Target="/ppt/notesMasters/notesMaster1.xml" Id="Rb995e963619e49f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c82f0195eba422b" /><Relationship Type="http://schemas.openxmlformats.org/officeDocument/2006/relationships/notesMaster" Target="/ppt/notesMasters/notesMaster1.xml" Id="R15008ab2773a4f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projeto do ciclo anterior: 32 lixeiras e 3 caminhões virtuais. Nesta evolução separamos a leitura e a atuação, a coordenação local e a memória na nuvem. MQTT é comunicação real entre processos. Os equipamentos e os dados continuam simulados. Repositório público da versão base e da documentação: https://github.com/annygabb/IoT---Coleta. A evolução distribuída testada foi entregue no pacote da atividade. O JSON privado não deve acompanhar a publicação.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Antes, o broker era uma classe em memória e o motor reunia leitura, movimento e decisão. Agora processos distintos trocam JSON sobre MQTT. A fog mantém um modelo a partir das mensagens recebidas. O motor original permanece para preservar regras e algoritmos. A interface antiga está em /legacy como demonstração independente.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Edge simula sensores e executa comandos. Fog recebe snapshots por MQTT, guarda em disco, escolhe rotas e publica comandos. Nuvem recebe lotes por HTTPS e guarda o histórico em Postgres. Painel consulta a fog. O nome comercial Edge Functions do Supabase não muda seu papel: neste projeto ela faz parte da nuvem.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edge usa o motor físico original, mas desativa a decisão automática de despacho. A cada segundo real ela cria um snapshot. No modo remoto, gera 32 eventos históricos a cada cinco snapshots. O caminhão só muda de rota quando recebe um comando da fog. Dados e atuadores são virtuais. A fila persiste, mas a posição física reinicia ao reiniciar a edge.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fog não avança o relógio físico. Reconstitui seu conhecimento a partir das mensagens da edge e usa estratégias e Dijkstra do projeto anterior. Persiste eventos antes de confirmar, protege leituras recentes contra mensagens fora de ordem e mantém sincronização com a nuvem fora do ciclo de decisão.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MQTT QoS 1 permite repetição. PUBACK informa uma etapa de transporte com o broker. O ACK de snapshot é enviado pela fog só depois de salvar no SQLite. A edge mantém o mesmo ID até receber esse ACK. Comandos aguardam ACK de aplicação e a edge mantém os IDs processados. A garantia de atuação física exatamente uma vez após falha abrupta não é fornecida.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event_id evita duplicidade. run_id separa boots da edge. sequence protege a ordem do estado. simulated_at representa o relógio acelerado da simulação; emitted_at representa o relógio real com fuso. fill_pct pode chegar a 120 no modelo para representar transbordo. sensor_status é saúde, enquanto operational_state é a situação da lixeira. Datas e números inválidos são rejeitados na nuvem.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docs/evidence-local/timeline.csv, execução de laboratório local. O eixo horizontal mostra instantes amostrados, com rótulos em segundos. A coleta continuou enquanto o enlace da nuvem estava desativado. A fila chegou a 192 eventos nas amostras da falha e zerou no ponto recuperado. São contagens, não taxas por segundo.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Cinco dos 32 sensores representam 15,6% da frota. Os 27 restantes ficam como controle. O grupo contém BIN-01, BIN-07, BIN-11, BIN-25 e BIN-30. Como 1% seria menos de um sensor, o grupo foi escolhido manualmente para uma demonstração com frota pequena. Representatividade física por hardware e bateria precisaria de inventário real.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Evidência de 19/10/2026 no pacote distribuído: 30 testes Python (12 da base e 18 da evolução), 11 testes JavaScript da apresentação de estados e 6 da função de nuvem. A integração adicional passou com broker MQTT real e emulador local, incluindo reconexão, canário, ACK e PDF. A integração remota anterior com Supabase também passou. Esses resultados não correspondem à suíte da versão base atualmente publicada no GitHub. Não há teste visual no navegador nem execução nativa Windows confirmada. Fontes: tests/distributed e scripts/verify_feedback.py do pacote da atividade.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função HTTPS e o Postgres foram publicados em São Paulo (sa-east-1). A região é configuração de hospedagem, não comprovação de menor latência. Ingest e history exigem credencial da fog; o browser não recebe a chave administrativa. O arquivo privado contém a configuração local. Fonte: evidência de integração remota e código da função no pacote da atividade. Supabase Edge Functions é o nome do produto: seu papel nesta arquitetura é nuvem.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Estas respostas distinguem o comportamento implementado das extensões necessárias. Timeout e falhas do envio mantêm o lote pendente, com espera progressiva até 30 segundos. Erros permanentes de validação exigem revisão manual. Uma fila cheia expõe erro e retém as confirmações. A queda da própria fog interrompe novas decisões; isso é diferente da queda da internet.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 oficial: https://supabase.com/pricing, consultada em 19/10/2026. Plano Free custa US$0 por mês, com banco de 500 MB, 5 GB de saída e pausa por inatividade de uma semana. O projeto permanece Free. MQTT local não tem mensalidade de hospedagem. Energia, internet e computador são recursos próprios. A taxa de 32 eventos por segundo é didática e não deve permanecer contínua sem retenção e dimensionamento.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pacote da evolução, abra INICIAR_SMARTWASTE.bat e mantenha o terminal aberto. Use Ctrl+F5 para atualizar a interface. Faça uma ação por vez, espere o ACK e cerca de 12 segundos antes da próxima alteração. Desconecte por pelo menos 15 segundos para observar acumulação. Reconecte e espere uma nova confirmação. Teste primeiro a versão saudável e depois a com falha. Exporte o PDF. No clone público da base, o iniciador disponível é run_lab.py. Consulte o README para a distinção entre os artefatos.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aviso genérico anterior não acompanhava o ACK que a edge devolvia. O painel agora associa o comando ao command_id. APPLIED e DUPLICATE resolvem o aviso. REJECTED mostra o motivo. Após 15 segundos sem confirmação, orienta verificar MQTT e o terminal. Enviar uma solicitação não comprova que a edge a executou. Fonte: ui-state.js e runtime.py do pacote distribuído.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PDF dinâmico inclui somente os registros disponíveis localmente. Mostra counters da sessão e fila persistente, oito últimos lotes, ações e amostras. Os bytes são de payload JSON, sem cabeçalhos TCP ou TLS. Tempo de lote inclui a requisição inteira, não é ping. O token não entra no PDF. Fonte: pdf_export.py e report_evidence.py do pacote distribuído.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Exemplo medido no teste local de exportação. O comando mudou a velocidade simulada de 60x para 360x. O relógio físico e a cadência de mensagens são independentes dessa velocidade. A distância e a coleta também avançam com a evolução normal do modelo. A tabela mostra associação temporal, não causalidade isolada. Fonte: docs/evidence-export/export.json do pacote distribuído.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Garbage in, garbage out significa que entradas incorretas geram análises e decisões pouco confiáveis. Exemplo: ocupação fora da faixa pode provocar despacho errado. A nuvem valida números finitos, faixas, estados e datas ISO com fuso. O teste de data impossível recebeu HTTP 400. Datas reais e simuladas continuam separadas. Fonte: core.mjs e cloud-smoke.json do pacote da atividade.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Integração remota anterior durou 42,14 segundos. No ponto de recuperação, 160 eventos haviam chegado à fog, 128 tinham confirmação e 32 continuavam pendentes. As confirmações passaram de 32 para 128 enquanto novas leituras chegavam. Isso não significa fila final vazia. Quatro requisições remotas duraram entre 6,91 e 7,82 segundos neste ambiente. Não extrapolar essas medições para usuários ou comparar com o emulador como benchmark. Fontes: docs/evidence-remote/result.json e timeline.csv.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Repositório público: https://github.com/annygabb/IoT---Coleta. Atualização de documentação de 19/10/2026. O código atualmente publicado é a versão base. A evolução com MQTT real, fila e Supabase foi implementada e testada no pacote distribuído da atividade. A documentação pública distingue as duas versões. Credenciais e pacote privado não fazem parte da publicação. Referências técnicas: https://docs.oasis-open.org/mqtt/mqtt/v3.1.1/os/mqtt-v3.1.1-os.html e https://supabase.com/pricing, consultadas em 19/10/2026.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7557c7b3604a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9871b471fb4cd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6d129873974e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30fb5ff8544ff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9431e3cb71454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172275523e4a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52929D-D46B-4C7F-9482-BC526A7D9B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DA0DBD8-EC2B-47B0-BC47-B55B7BC378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FDFE26F-B624-4A18-87F7-65534D511E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E30599-F817-4F6C-8F0F-5156CBC079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22DE53E-64A6-4E2B-9A80-4349BDCA85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DCF450A-FF93-4DD9-A503-C5B42C01B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E360AE-ACD8-48A0-98A7-B5D2543105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8C733DD-C45F-4874-9E7C-690E366AE0E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FDB5BA-7B95-4318-8DCF-E278DCBD44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A698A8-38E0-431F-BDB6-531B9F034A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fc906b22aa4141" /><Relationship Type="http://schemas.openxmlformats.org/officeDocument/2006/relationships/slideLayout" Target="/ppt/slideLayouts/slideLayout1.xml" Id="R3c126cd4f1e8432d" /><Relationship Type="http://schemas.openxmlformats.org/officeDocument/2006/relationships/slideLayout" Target="/ppt/slideLayouts/slideLayout2.xml" Id="R294076b443eb4816" /><Relationship Type="http://schemas.openxmlformats.org/officeDocument/2006/relationships/slideLayout" Target="/ppt/slideLayouts/slideLayout3.xml" Id="R4a422ca0a61e4034" /><Relationship Type="http://schemas.openxmlformats.org/officeDocument/2006/relationships/slideLayout" Target="/ppt/slideLayouts/slideLayout4.xml" Id="R8d1484c6211244bc" /><Relationship Type="http://schemas.openxmlformats.org/officeDocument/2006/relationships/slideLayout" Target="/ppt/slideLayouts/slideLayout5.xml" Id="R4ff9d1b217544b82" /><Relationship Type="http://schemas.openxmlformats.org/officeDocument/2006/relationships/slideLayout" Target="/ppt/slideLayouts/slideLayout6.xml" Id="Rb0ce1f5c3a564b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126cd4f1e8432d"/>
    <p:sldLayoutId xmlns:r="http://schemas.openxmlformats.org/officeDocument/2006/relationships" id="2147483650" r:id="R294076b443eb4816"/>
    <p:sldLayoutId xmlns:r="http://schemas.openxmlformats.org/officeDocument/2006/relationships" id="2147483651" r:id="R4a422ca0a61e4034"/>
    <p:sldLayoutId xmlns:r="http://schemas.openxmlformats.org/officeDocument/2006/relationships" id="2147483652" r:id="R8d1484c6211244bc"/>
    <p:sldLayoutId xmlns:r="http://schemas.openxmlformats.org/officeDocument/2006/relationships" id="2147483653" r:id="R4ff9d1b217544b82"/>
    <p:sldLayoutId xmlns:r="http://schemas.openxmlformats.org/officeDocument/2006/relationships" id="2147483654" r:id="Rb0ce1f5c3a564b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6eefb8e0c34e96" /><Relationship Type="http://schemas.openxmlformats.org/officeDocument/2006/relationships/hyperlink" Target="https://github.com/annygabb/IoT---Coleta" TargetMode="External" Id="Rbc2d1ae3f2454ed3" /><Relationship Type="http://schemas.openxmlformats.org/officeDocument/2006/relationships/notesSlide" Target="/ppt/notesSlides/notesSlide1.xml" Id="R699bd7dfda184f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10d45d0310495f" /><Relationship Type="http://schemas.openxmlformats.org/officeDocument/2006/relationships/notesSlide" Target="/ppt/notesSlides/notesSlide2.xml" Id="R7fa2b423d3594d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09989b528646aa" /><Relationship Type="http://schemas.openxmlformats.org/officeDocument/2006/relationships/notesSlide" Target="/ppt/notesSlides/notesSlide3.xml" Id="R4b726ef245dc4e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d2e83e96264756" /><Relationship Type="http://schemas.openxmlformats.org/officeDocument/2006/relationships/notesSlide" Target="/ppt/notesSlides/notesSlide4.xml" Id="R9840faa5757f40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f1b1f2e28e4c47" /><Relationship Type="http://schemas.openxmlformats.org/officeDocument/2006/relationships/notesSlide" Target="/ppt/notesSlides/notesSlide5.xml" Id="R3035e369d2c240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40416b0d84c8b" /><Relationship Type="http://schemas.openxmlformats.org/officeDocument/2006/relationships/notesSlide" Target="/ppt/notesSlides/notesSlide6.xml" Id="R1eb8ad94343d4a8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d382ecbd684809" /><Relationship Type="http://schemas.openxmlformats.org/officeDocument/2006/relationships/notesSlide" Target="/ppt/notesSlides/notesSlide7.xml" Id="R8e6029db97e846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68a2a2fbcb4a55" /><Relationship Type="http://schemas.openxmlformats.org/officeDocument/2006/relationships/chart" Target="/ppt/slides/charts/chart1.xml" Id="R789f57b133f84738" /><Relationship Type="http://schemas.openxmlformats.org/officeDocument/2006/relationships/notesSlide" Target="/ppt/notesSlides/notesSlide8.xml" Id="R59d68db5bc0e40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b7314001a94341" /><Relationship Type="http://schemas.openxmlformats.org/officeDocument/2006/relationships/chart" Target="/ppt/slides/charts/chart2.xml" Id="Rd16bc880c5444abb" /><Relationship Type="http://schemas.openxmlformats.org/officeDocument/2006/relationships/notesSlide" Target="/ppt/notesSlides/notesSlide9.xml" Id="R9b5b8fef89e74b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f628f30bd04aed" /><Relationship Type="http://schemas.openxmlformats.org/officeDocument/2006/relationships/chart" Target="/ppt/slides/charts/chart3.xml" Id="Rf3cb2d68cead4f00" /><Relationship Type="http://schemas.openxmlformats.org/officeDocument/2006/relationships/notesSlide" Target="/ppt/notesSlides/notesSlide10.xml" Id="Ra466baac6430431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e485f2eca846da" /><Relationship Type="http://schemas.openxmlformats.org/officeDocument/2006/relationships/notesSlide" Target="/ppt/notesSlides/notesSlide11.xml" Id="R6df5a1c869ec43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06840f5ac74d9b" /><Relationship Type="http://schemas.openxmlformats.org/officeDocument/2006/relationships/notesSlide" Target="/ppt/notesSlides/notesSlide12.xml" Id="R23ccf1dcc28640f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ba31e20ec74758" /><Relationship Type="http://schemas.openxmlformats.org/officeDocument/2006/relationships/notesSlide" Target="/ppt/notesSlides/notesSlide13.xml" Id="Rb0870d07d6f04b7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58b47bda944420" /><Relationship Type="http://schemas.openxmlformats.org/officeDocument/2006/relationships/notesSlide" Target="/ppt/notesSlides/notesSlide14.xml" Id="R61d09ebd41264c3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96ebf8c3c547cc" /><Relationship Type="http://schemas.openxmlformats.org/officeDocument/2006/relationships/notesSlide" Target="/ppt/notesSlides/notesSlide15.xml" Id="R13dc2f38639f4e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469c3b7ec74b3e" /><Relationship Type="http://schemas.openxmlformats.org/officeDocument/2006/relationships/notesSlide" Target="/ppt/notesSlides/notesSlide16.xml" Id="R60577a9c27e34a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585954df3c471f" /><Relationship Type="http://schemas.openxmlformats.org/officeDocument/2006/relationships/notesSlide" Target="/ppt/notesSlides/notesSlide17.xml" Id="R8ea27128cbf448e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1fbf25eb854020" /><Relationship Type="http://schemas.openxmlformats.org/officeDocument/2006/relationships/notesSlide" Target="/ppt/notesSlides/notesSlide18.xml" Id="R5e9101a576f2410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8651b12f90442f" /><Relationship Type="http://schemas.openxmlformats.org/officeDocument/2006/relationships/notesSlide" Target="/ppt/notesSlides/notesSlide19.xml" Id="R8c25f12cb7114f4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57d4eb02a64851" /><Relationship Type="http://schemas.openxmlformats.org/officeDocument/2006/relationships/hyperlink" Target="https://github.com/annygabb/IoT---Coleta" TargetMode="External" Id="R0285ab6e27104139" /><Relationship Type="http://schemas.openxmlformats.org/officeDocument/2006/relationships/notesSlide" Target="/ppt/notesSlides/notesSlide20.xml" Id="Rfb77da86efc64c7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Eventos pendentes</c:v>
          </c:tx>
          <c:spPr>
            <a:ln xmlns:a="http://schemas.openxmlformats.org/drawingml/2006/main" w="38100">
              <a:solidFill>
                <a:srgbClr val="167655"/>
              </a:solidFill>
              <a:prstDash val="solid"/>
            </a:ln>
          </c:spPr>
          <c:marker>
            <c:symbol val="none"/>
          </c:marker>
          <c:cat>
            <c:strRef>
              <c:f>'Chart Data'!$A$2:$A$11</c:f>
              <c:strCache>
                <c:ptCount val="10"/>
                <c:pt idx="0">
                  <c:v>2.4 s</c:v>
                </c:pt>
                <c:pt idx="1">
                  <c:v>2.4 s</c:v>
                </c:pt>
                <c:pt idx="2">
                  <c:v>3.4 s</c:v>
                </c:pt>
                <c:pt idx="3">
                  <c:v>4.4 s</c:v>
                </c:pt>
                <c:pt idx="4">
                  <c:v>5.4 s</c:v>
                </c:pt>
                <c:pt idx="5">
                  <c:v>6.4 s</c:v>
                </c:pt>
                <c:pt idx="6">
                  <c:v>7.4 s</c:v>
                </c:pt>
                <c:pt idx="7">
                  <c:v>8.4 s</c:v>
                </c:pt>
                <c:pt idx="8">
                  <c:v>11.5 s</c:v>
                </c:pt>
                <c:pt idx="9">
                  <c:v>21.8 s</c:v>
                </c:pt>
              </c:strCache>
            </c:strRef>
          </c:cat>
          <c:val>
            <c:numRef>
              <c:f>'Chart Data'!$B$2:$B$11</c:f>
              <c:numCache>
                <c:formatCode>General</c:formatCode>
                <c:ptCount val="10"/>
                <c:pt idx="0">
                  <c:v>32</c:v>
                </c:pt>
                <c:pt idx="1">
                  <c:v>32</c:v>
                </c:pt>
                <c:pt idx="2">
                  <c:v>64</c:v>
                </c:pt>
                <c:pt idx="3">
                  <c:v>96</c:v>
                </c:pt>
                <c:pt idx="4">
                  <c:v>96</c:v>
                </c:pt>
                <c:pt idx="5">
                  <c:v>128</c:v>
                </c:pt>
                <c:pt idx="6">
                  <c:v>160</c:v>
                </c:pt>
                <c:pt idx="7">
                  <c:v>192</c:v>
                </c:pt>
                <c:pt idx="8">
                  <c:v>0</c:v>
                </c:pt>
                <c:pt idx="9">
                  <c:v>32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DAD1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xmlns:r="http://schemas.openxmlformats.org/officeDocument/2006/relationships" r:id="rIdChartSnapshot1">
    <c:autoUpdate val="0"/>
  </c:externalData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Sensores</c:v>
          </c:tx>
          <c:spPr>
            <a:solidFill xmlns:a="http://schemas.openxmlformats.org/drawingml/2006/main">
              <a:srgbClr val="167655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Canário</c:v>
                </c:pt>
                <c:pt idx="1">
                  <c:v>Controle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</c:v>
                </c:pt>
                <c:pt idx="1">
                  <c:v>27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DAD1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xmlns:r="http://schemas.openxmlformats.org/officeDocument/2006/relationships" r:id="rIdChartSnapshot1">
    <c:autoUpdate val="0"/>
  </c:externalData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bar"/>
        <c:varyColors val="0"/>
        <c:ser>
          <c:idx val="0"/>
          <c:order val="0"/>
          <c:tx>
            <c:v>Testes aprovados</c:v>
          </c:tx>
          <c:spPr>
            <a:solidFill xmlns:a="http://schemas.openxmlformats.org/drawingml/2006/main">
              <a:srgbClr val="167655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Python base</c:v>
                </c:pt>
                <c:pt idx="1">
                  <c:v>Python distribuído</c:v>
                </c:pt>
                <c:pt idx="2">
                  <c:v>Interface JavaScript</c:v>
                </c:pt>
                <c:pt idx="3">
                  <c:v>Função de nuvem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11</c:v>
                </c:pt>
                <c:pt idx="3">
                  <c:v>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FDAD1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xmlns:r="http://schemas.openxmlformats.org/officeDocument/2006/relationships"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5695B-1B18-417F-BC0F-3EFBBFA7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0ABBE-F246-47D4-B5A2-0F4E677A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SmartWaste DF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10B3F-A075-4280-BF3A-92619E22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7E041-E0CC-400B-9EA9-9773ACF1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7382DB-151A-49E4-832B-35EFB627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Edge, fog e nuvem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FF471-C38D-4D1F-874D-A2493633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Coleta coordenada localmente, com histórico no Supabase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7D8E50-BEF4-49F6-A381-B460F993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Engenharia de Software - Anny - Arthur - Eduardo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A0734-C29D-4674-AC8E-967912E5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bc2d1ae3f2454ed3"/>
              </a:rPr>
              <a:t>https://github.com/annygabb/IoT---Coleta</a:t>
            </a:r>
          </a:p>
        </p:txBody>
      </p:sp>
    </p:spTree>
    <p:extLst>
      <p:ext uri="{BB962C8B-B14F-4D97-AF65-F5344CB8AC3E}">
        <p14:creationId xmlns:p14="http://schemas.microsoft.com/office/powerpoint/2010/main" val="1803987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8ADD7-42F8-4CFB-92B8-B4ECD420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AD06B-251D-40E7-BFF0-C450F187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O que mudou no projeto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66C0B-F2A8-41C5-9288-1D9C295D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1E538-B947-48BB-A070-EFBCBC65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81E32-BFD5-42AA-8A34-21F65D964DB2}"/>
              </a:ext>
            </a:extLst>
          </p:cNvPr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095750"/>
                <a:gridCol w="4591050"/>
              </a:tblGrid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Ponto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Agora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Comunicação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Broker em memória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Broker MQTT por TCP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Responsabilidades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Um motor compartilhado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Edge virtual e fog decisora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Histórico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Fluxo sem fila durável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SQLite e Postgres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Painel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Simulação própria em JS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Estado recebido da fog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685EA-9AEF-4E2A-8CDF-5B57DCD1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Motivo: uma queda da internet não deve parar a coordenação local.</a:t>
            </a:r>
          </a:p>
        </p:txBody>
      </p:sp>
    </p:spTree>
    <p:extLst>
      <p:ext uri="{BB962C8B-B14F-4D97-AF65-F5344CB8AC3E}">
        <p14:creationId xmlns:p14="http://schemas.microsoft.com/office/powerpoint/2010/main" val="18627748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B35B61-BED4-4096-BB2A-26BE9CC4526F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3790950"/>
            <a:ext cx="0" cy="1085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655"/>
            </a:solidFill>
            <a:prstDash val="soli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B6BED8-8D9A-457C-A639-B13668B37817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62000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655"/>
            </a:solidFill>
            <a:prstDash val="soli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0C832E-7379-4B1A-A970-079A4EF4207A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65760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655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C131DC-2EFA-4EA2-97FA-D8254BAE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7C8CF-DDD8-402F-A8BC-8530F073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Arquitetura em três camadas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B5373-340F-423A-BA9D-4D790D37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37E5B-8B03-4C67-882F-E4C76E30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F3832-F4E5-438F-8A60-93E805ED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3FFEB-7BBD-4650-A393-20023564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2705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EDGE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Sensores e atuadores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5EC4B-D2A4-4F27-8B94-8282F6C1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241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C066F-E619-47D0-B86E-B5FC898F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14600"/>
            <a:ext cx="2705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FOG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Decisão e fila local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AB434F-C6DF-4CEA-A1BB-B195571A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241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D94F6-3049-4B6A-9B99-A3213613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14600"/>
            <a:ext cx="2705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NUVEM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API e Postgres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812DC-EBFE-4894-A731-312FA99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768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DA94E-C40B-4D97-84E8-360F66B3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067300"/>
            <a:ext cx="2705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PAINEL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Estado da fog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CCDCC-754B-447A-9308-58C77C0B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67000"/>
            <a:ext cx="85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C3D39-5557-4072-91E6-C73AE78F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667000"/>
            <a:ext cx="85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HTTPS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8105AA-3FB8-4B57-A37C-3D78A001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0530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HTTP local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E43DEE-A746-4409-A63E-3D0D1502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Medições e comandos circulam nos dois sentidos entre edge e fog.</a:t>
            </a:r>
          </a:p>
        </p:txBody>
      </p:sp>
    </p:spTree>
    <p:extLst>
      <p:ext uri="{BB962C8B-B14F-4D97-AF65-F5344CB8AC3E}">
        <p14:creationId xmlns:p14="http://schemas.microsoft.com/office/powerpoint/2010/main" val="4810227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D444D4-CAD3-4A85-87D3-DB961696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A6E91-D45A-4FC5-8647-36ADAB33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Edge: leitura e execução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F723A6-BFE3-4CBA-B8B0-9B423F95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73070-F53D-48F8-B1CD-C357723F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88C8C1-EA1E-4632-94B8-460D4E92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 edge representa o que está acontecendo no dispositivo.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50E42-0879-4BB9-8D3C-6D8DA53B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47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Lixeira: mede ocupação, temperatura e bateria.</a:t>
            </a:r>
          </a:p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Caminhão: recebe uma rota e simula movimento e coleta.</a:t>
            </a:r>
          </a:p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 edge grava o snapshot antes de publicar no MQTT.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CFE83-415E-47D0-8A75-A5FAA26A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Por quê: executar uma ação física não deve depender da nuvem.</a:t>
            </a:r>
          </a:p>
        </p:txBody>
      </p:sp>
    </p:spTree>
    <p:extLst>
      <p:ext uri="{BB962C8B-B14F-4D97-AF65-F5344CB8AC3E}">
        <p14:creationId xmlns:p14="http://schemas.microsoft.com/office/powerpoint/2010/main" val="15803510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C27205-B1E7-4C8D-8A10-40EE502E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D52998-EC4D-454E-8C85-CB9642CC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Fog: decisão com visão da frota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232AD2-7597-4CA2-8437-4FE10847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CA43B-5811-4E67-84F0-6408A30E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743007-683B-4883-8E03-B562FDB9C64A}"/>
              </a:ext>
            </a:extLst>
          </p:cNvPr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7924800"/>
              </a:tblGrid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Ação da fog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Lógica e motivo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Receber e gravar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Confirma somente depois da gravação em disco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Escolher caminhão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Combina ocupação, capacidade e localização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Calcular rota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Dijkstra considera a malha e o bloqueio da EPTG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Sincronizar histórico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Envio em lotes evita uma chamada por sensor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83086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02224-C7AD-410D-99F8-A1D36432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1EAF0-8DBD-44B5-851E-392F1596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 e confirmação da aplicação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EF156-8F08-4F1A-91B8-954B063D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D6CF5-CAE4-4692-BCEE-0A16363D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836E9-9A76-4D09-9B60-E40DD5AA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1. Gravar localmente antes de transmitir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302FCA-F4A4-47E9-AE24-74BE560A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2. Reenviar com o mesmo identificador se faltar confirmação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E2EC38-88A8-45D9-92E5-AA6456A0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3. Deduplicar no receptor e confirmar os IDs aceitos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B0A4A-B76B-485E-8D59-5A62AFC4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PUBACK do broker e confirmação de gravação são etapas diferentes.</a:t>
            </a:r>
          </a:p>
        </p:txBody>
      </p:sp>
    </p:spTree>
    <p:extLst>
      <p:ext uri="{BB962C8B-B14F-4D97-AF65-F5344CB8AC3E}">
        <p14:creationId xmlns:p14="http://schemas.microsoft.com/office/powerpoint/2010/main" val="1137874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E58ACD-827A-4C86-BE60-68A6E6E6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C4CD4-5BC3-4BB1-B805-C98C6C0A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Colunas e significado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ED6CB-ECD8-40CE-B175-80EE58B8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1BCC3-3A32-42E3-BD06-CEA6B05E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E65F49-79BE-4C89-9976-05B31186650D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86250"/>
                <a:gridCol w="6686550"/>
              </a:tblGrid>
              <a:tr h="635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Campos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Por que existem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event_id / run_id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Deduplicar leituras e separar execuções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sequence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Evitar que estado antigo substitua o mais novo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simulated_at / emitted_at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Separar tempo simulado do tempo real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fill_pct / battery_pct / temperature_c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Medir ocupação, autonomia simulada e temperatura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operational_state / sensor_status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Separar lixeira crítica de sensor com falha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13736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FE118-867B-427E-A0F9-D7E032A7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8527F-2DEB-46B8-BE7B-0FF56018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Fila durante a falha e a recuperação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E226A-6FE6-4B88-A7A2-F47D9AD5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2FE25-8A44-49FE-BCB0-B7749553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1D6BCA81-6EFC-4FDB-87C3-B9B13B8B7B6B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66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9f57b133f8473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819FF5-FE67-47C3-B43D-4983FA5C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Teste local: a fila cresce sem nuvem e diminui após a reconexão.</a:t>
            </a:r>
          </a:p>
        </p:txBody>
      </p:sp>
    </p:spTree>
    <p:extLst>
      <p:ext uri="{BB962C8B-B14F-4D97-AF65-F5344CB8AC3E}">
        <p14:creationId xmlns:p14="http://schemas.microsoft.com/office/powerpoint/2010/main" val="18920678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0623AD-C0C4-42C1-A568-005DBDDC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CE3EA8-7D90-4732-ABCF-B967B8B8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Canário: 5 sensores em teste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B257D-7A2B-4A27-ACA3-36216BF5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6247B-B0BD-4BF3-8A0C-168071E5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0598F1E4-7556-4303-A1B0-52F68B9A3634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66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6bc880c5444ab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674F34-F199-4B8A-96F6-F52D3D76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Falha injetada: mais de 5% de erros após a janela provoca reversão.</a:t>
            </a:r>
          </a:p>
        </p:txBody>
      </p:sp>
    </p:spTree>
    <p:extLst>
      <p:ext uri="{BB962C8B-B14F-4D97-AF65-F5344CB8AC3E}">
        <p14:creationId xmlns:p14="http://schemas.microsoft.com/office/powerpoint/2010/main" val="17283089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BBE2A-649D-4112-B62D-8028B8D9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8CC01-E5AC-45B0-BACA-730B9C8C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Evidências verificadas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614E60-2FEC-4533-8ABE-58BFC9B8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B18DC-A396-46E7-B3E2-3923B2F5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8AB84FB2-C9AF-490D-8914-3A2D3F76DFDB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66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cb2d68cead4f00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11C5D4-24E9-451E-B957-189ECF9C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47 testes aprovados no pacote distribuído: 30 Python, 11 de interface e 6 da nuvem.</a:t>
            </a:r>
          </a:p>
        </p:txBody>
      </p:sp>
    </p:spTree>
    <p:extLst>
      <p:ext uri="{BB962C8B-B14F-4D97-AF65-F5344CB8AC3E}">
        <p14:creationId xmlns:p14="http://schemas.microsoft.com/office/powerpoint/2010/main" val="7237740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9006E-9B20-4C2B-A335-252153F9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4F6D04-6954-4E5A-BB7A-4FD8A80F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Supabase Free em São Paulo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40778-93C1-446C-96BF-AC0A5C5C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EAFD2-0E31-49B2-A0D1-903261FE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B46CC1-048A-4DB9-AFDC-67C315C0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Histórico central acessível por HTTPS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19A31-D713-4F2D-AF56-0B597A17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47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 nuvem valida os lotes e persiste em Postgres.</a:t>
            </a:r>
          </a:p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O token fica no arquivo privado da fog.</a:t>
            </a:r>
          </a:p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O painel permanece local e não recebe chave administrativa.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FD044C-7E5C-40BD-8B26-611B35DC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Ganhos: consulta remota e histórico independente do navegador.</a:t>
            </a:r>
          </a:p>
        </p:txBody>
      </p:sp>
    </p:spTree>
    <p:extLst>
      <p:ext uri="{BB962C8B-B14F-4D97-AF65-F5344CB8AC3E}">
        <p14:creationId xmlns:p14="http://schemas.microsoft.com/office/powerpoint/2010/main" val="13146803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B6D25-0B56-49FA-9029-4C3BAE34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FF6E6-0357-404C-89E0-276CE21B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Erros possíveis e resposta do sistema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D7B5A-1750-44C8-9B5B-C3B428D1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91712-50E5-441B-9883-07C3E40F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535A2-7BA9-4213-AED8-6114B7003D1E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7448550"/>
              </a:tblGrid>
              <a:tr h="635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Condição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Resposta e consequência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Internet indisponível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Fog continua e acumula a fila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Timeout depois de gravar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Mesmo ID no reenvio evita nova linha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Token inválido / dado inválido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Erro visível e lote pendente para correção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Fila cheia / disco indisponível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Não afirmar que o dado foi protegido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Fog encerrada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Novas decisões param até a recuperação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1133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B476B3-275C-40BE-BFBE-34AFF282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C2096-2EE6-4E5F-9771-B70B68A4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Gratuidade e limites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0A059-DAE9-469B-9779-24C4DCDC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1F5BD-7A9B-4970-9F7C-FDF89762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2A2746-C858-4605-9B37-21AD0393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51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US$ 0/mês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43BEB-442F-49A8-8634-F615FCB8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Supabase Free dentro das cotas. Broker executa no computador local.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0C4D9-3BB9-40C4-9C74-3441529B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500 MB de banco. Possível pausa após uma semana de inatividade.</a:t>
            </a:r>
          </a:p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Histórico remoto: 32 leituras a cada cinco snapshots.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E6A06B-C853-4CC9-8F03-9DC37600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Sensores virtuais. Sem OTA física nem restauração integral da simulação.</a:t>
            </a:r>
          </a:p>
        </p:txBody>
      </p:sp>
    </p:spTree>
    <p:extLst>
      <p:ext uri="{BB962C8B-B14F-4D97-AF65-F5344CB8AC3E}">
        <p14:creationId xmlns:p14="http://schemas.microsoft.com/office/powerpoint/2010/main" val="19402117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82570-18D5-4B33-A760-950CE502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153F5-CBC9-4738-8B5D-AC1B3413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Demonstração para apresentar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57BAE4-A1E1-4F52-94CA-D229733F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421D4-91FB-4919-9EFC-005C24D0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78294-8DCB-4E54-8576-50EFEF0D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01  Acompanhar leituras e decisões da fog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5F31E-BC19-478D-9874-E50CEA9D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02  Desconectar a nuvem e observar a fila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8E3CC-ED91-4A86-8C83-129B78B0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03  Reconectar e acompanhar as confirmações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A083B7-1331-4A1C-909F-6380875F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04  Injetar falha no canário e verificar a reversão</a:t>
            </a:r>
          </a:p>
        </p:txBody>
      </p:sp>
    </p:spTree>
    <p:extLst>
      <p:ext uri="{BB962C8B-B14F-4D97-AF65-F5344CB8AC3E}">
        <p14:creationId xmlns:p14="http://schemas.microsoft.com/office/powerpoint/2010/main" val="8040291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6927A-F878-4260-951F-A70CBE06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273D5-2715-48A9-8758-D6F01E19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Confirmação de cada alteração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6B5C8-367F-45AF-80D5-2C71DEF2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6181F5-BB4C-49AD-9FDA-12D84F86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BC150-1839-4A35-863B-B7E2189D1BD5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666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Etapa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 que o usuário acompanha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Envio à fog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Comando enviado, aguardando a edge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ACK de aplicação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Alteração confirmada ou rejeitada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Telemetria posterior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Primeiro estado compatível com o pedido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Nova amostra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Comparação após pelo menos 10 segundos reais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EE5EB-328E-4D61-BD2D-150BF9E6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Sem ACK após 15 s: aviso de atraso e orientação para verificar a conexão.</a:t>
            </a:r>
          </a:p>
        </p:txBody>
      </p:sp>
    </p:spTree>
    <p:extLst>
      <p:ext uri="{BB962C8B-B14F-4D97-AF65-F5344CB8AC3E}">
        <p14:creationId xmlns:p14="http://schemas.microsoft.com/office/powerpoint/2010/main" val="184355790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FFF03-CBE4-44CF-9C19-70E3F9A0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42BDC-5240-4302-B969-29C53AAD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PDF com dados de MQTT e nuvem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B28E1-024B-4003-BD65-81BEC89D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677D4-F3FF-4B19-9F13-9E661851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509AFD-E46C-4248-B5E9-7B8DCA6A34B5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66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Bloco do PDF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Como ajuda na análise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MQTT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Mensagens e bytes entre edge e fog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Envio à nuvem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Lotes, status HTTP, duração e confirmações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Fila e recuperação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Eventos pendentes em cada amostra real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 e depois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Pedido, ACK, estado observado e nova amostra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51D25-98A3-43D4-8F37-9023E3E6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85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Histórico de alterações começa na atualização. Dados anteriores não são reconstruídos.</a:t>
            </a:r>
          </a:p>
        </p:txBody>
      </p:sp>
    </p:spTree>
    <p:extLst>
      <p:ext uri="{BB962C8B-B14F-4D97-AF65-F5344CB8AC3E}">
        <p14:creationId xmlns:p14="http://schemas.microsoft.com/office/powerpoint/2010/main" val="10587557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65674F-5648-4BDB-BF4E-91B06E21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32E003-4DD4-40CF-8DB6-C05E79A7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Velocidade e efeito nos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93BE18-7F06-4415-BF6B-D0196D75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60E49-CDE3-4550-9291-C4956147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AB98A7-2FD4-4AA1-80B3-B64B9198B8DB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05150"/>
                <a:gridCol w="3105150"/>
              </a:tblGrid>
              <a:tr h="666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Métrica do teste local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Amostra posterior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Velocidade simulada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60x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360x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Distância acumulada da frota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43.71 km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158.86 km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Resíduos coletados acumulados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3966.2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9056.6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Eventos confirmados na nuvem local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1056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8E655A-3630-4130-B14B-97576681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85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Os valores são sintéticos e incluem a evolução normal da simulação.</a:t>
            </a:r>
          </a:p>
        </p:txBody>
      </p:sp>
    </p:spTree>
    <p:extLst>
      <p:ext uri="{BB962C8B-B14F-4D97-AF65-F5344CB8AC3E}">
        <p14:creationId xmlns:p14="http://schemas.microsoft.com/office/powerpoint/2010/main" val="207371041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E1EDE-5DF3-4AB6-8B6A-8734C475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ABE63-C384-489D-AB57-F9E45B52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Qualidade dos dados e datas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16D8A3-EDC3-43CE-A017-AEF4602F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D3BB2C-05DB-40CA-A307-528ECE5D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81DC2-357D-4BF0-9784-E2DFD982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Garbage in, garbage 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E3DD1-0033-4C8F-8911-69B4C081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Dados incorretos podem produzir conclusões incorretas.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A4F91-2F81-408F-B8F9-B38EC01AC527}"/>
              </a:ext>
            </a:extLst>
          </p:cNvPr>
          <p:cNvGraphicFramePr/>
          <p:nvPr/>
        </p:nvGraphicFramePr>
        <p:xfrm>
          <a:off xmlns:a="http://schemas.openxmlformats.org/drawingml/2006/main" x="609600" y="3524250"/>
          <a:ext xmlns:a="http://schemas.openxmlformats.org/drawingml/2006/main" cx="10972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6972300"/>
              </a:tblGrid>
              <a:tr h="5238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Verificação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Por que existe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Data ISO com fuso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Evita ambiguidade entre UTC e hora local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Calendário válido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30 de fevereiro deve ser rejeitado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Tempo real e simulado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Velocidade da simulação não muda o horário do envio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703684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8C897-C45B-4E91-B5B8-5D95DC6A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E2448-FA1C-4F90-A07E-959C2BA8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Resultados e limites da nuvem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F84F2-87D0-40EF-8258-E23B63C8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CB374-1A9D-4235-81C9-5E57CA2B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0F3F9-8FA7-4E5C-9E69-0AD560C70FC1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6781800"/>
              </a:tblGrid>
              <a:tr h="666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Evidência remota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 observado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MQTT e HTTPS no mesmo fluxo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Execução integrada aprovada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Ponto de recuperação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160 recebidos, 128 confirmados e 32 pendentes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Evento repetido na API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Uma linha armazenada no teste de duplicação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Data impossível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API respondeu HTTP 400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C292F5-4DFA-4A1D-9ECD-5FEA3075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85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 nuvem preserva histórico. A fog continua sendo necessária para decidir localmente.</a:t>
            </a:r>
          </a:p>
        </p:txBody>
      </p:sp>
    </p:spTree>
    <p:extLst>
      <p:ext uri="{BB962C8B-B14F-4D97-AF65-F5344CB8AC3E}">
        <p14:creationId xmlns:p14="http://schemas.microsoft.com/office/powerpoint/2010/main" val="33604543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542D6-B5BC-4A98-8D42-FE6BAEB9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6AB58-3225-4B8D-A4A2-4CFD7C69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Repositório e entrega da atividade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FA7C7-2FCB-4AB1-AF8D-29ED0D05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0AC300-51CD-49B2-8D2A-21AC3958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75768-27B7-4F9D-A174-28712E3C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FABE8-9E9A-4325-8E0C-23CABDFF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0285ab6e27104139"/>
              </a:rPr>
              <a:t>https://github.com/annygabb/IoT---Coleta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2BC56-1FAF-4E3C-81C9-AD9368E3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GitHub: código da base e documentação pública da evolução.</a:t>
            </a:r>
          </a:p>
          <a:p xmlns:a="http://schemas.openxmlformats.org/drawingml/2006/main">
            <a: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Pacote da atividade: execução distribuída testada e configuração privada.</a:t>
            </a:r>
          </a:p>
          <a:p xmlns:a="http://schemas.openxmlformats.org/drawingml/2006/main">
            <a: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Relatório acadêmico: objetivos, metodologia, evidências e limitações.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9E5DB-A7EA-4B81-B312-AFFCA618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Sensores e caminhões virtuais. Comunicação MQTT e hospedagem da nuvem reais.</a:t>
            </a:r>
          </a:p>
        </p:txBody>
      </p:sp>
    </p:spTree>
    <p:extLst>
      <p:ext uri="{BB962C8B-B14F-4D97-AF65-F5344CB8AC3E}">
        <p14:creationId xmlns:p14="http://schemas.microsoft.com/office/powerpoint/2010/main" val="16198364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2026-10-19T16:55:27.6830000Z</dcterms:created>
  <dcterms:modified xsi:type="dcterms:W3CDTF">2026-10-19T16:55:27.6830000Z</dcterms:modified>
</coreProperties>
</file>