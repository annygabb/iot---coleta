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2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4b7a9a4e014746" /><Relationship Type="http://schemas.openxmlformats.org/officeDocument/2006/relationships/extended-properties" Target="/docProps/app.xml" Id="R5be4832ea7b447be" /><Relationship Type="http://schemas.openxmlformats.org/officeDocument/2006/relationships/officeDocument" Target="/ppt/presentation.xml" Id="R6b029c21aa2741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7613bac0774742"/>
  </p:sldMasterIdLst>
  <p:notesMasterIdLst>
    <p:notesMasterId xmlns:r="http://schemas.openxmlformats.org/officeDocument/2006/relationships" r:id="R3b903ae741cf4d85"/>
  </p:notesMasterIdLst>
  <p:sldIdLst>
    <p:sldId xmlns:r="http://schemas.openxmlformats.org/officeDocument/2006/relationships" id="256" r:id="R9ed199ccc3e44ed3"/>
    <p:sldId xmlns:r="http://schemas.openxmlformats.org/officeDocument/2006/relationships" id="257" r:id="R4f8f8668bf8f49c9"/>
    <p:sldId xmlns:r="http://schemas.openxmlformats.org/officeDocument/2006/relationships" id="258" r:id="Rdb262a5c10cf4d9e"/>
    <p:sldId xmlns:r="http://schemas.openxmlformats.org/officeDocument/2006/relationships" id="259" r:id="R5c232bc27ec24082"/>
    <p:sldId xmlns:r="http://schemas.openxmlformats.org/officeDocument/2006/relationships" id="260" r:id="Rd24b3b3edc334a31"/>
    <p:sldId xmlns:r="http://schemas.openxmlformats.org/officeDocument/2006/relationships" id="261" r:id="Rbfcc74926cbc47aa"/>
    <p:sldId xmlns:r="http://schemas.openxmlformats.org/officeDocument/2006/relationships" id="262" r:id="R4b724a41bace4c3f"/>
    <p:sldId xmlns:r="http://schemas.openxmlformats.org/officeDocument/2006/relationships" id="263" r:id="R45ff42ea2beb4b96"/>
    <p:sldId xmlns:r="http://schemas.openxmlformats.org/officeDocument/2006/relationships" id="264" r:id="Rdedd7c9f06ce4172"/>
    <p:sldId xmlns:r="http://schemas.openxmlformats.org/officeDocument/2006/relationships" id="265" r:id="Rf36906a2fa3445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3d1974097245bc" /><Relationship Type="http://schemas.openxmlformats.org/officeDocument/2006/relationships/slideMaster" Target="/ppt/slideMasters/slideMaster1.xml" Id="R4e7613bac0774742" /><Relationship Type="http://schemas.openxmlformats.org/officeDocument/2006/relationships/notesMaster" Target="/ppt/notesMasters/notesMaster1.xml" Id="R3b903ae741cf4d85" /><Relationship Type="http://schemas.openxmlformats.org/officeDocument/2006/relationships/presProps" Target="/ppt/presProps.xml" Id="R725428bac3ce45c2" /><Relationship Type="http://schemas.openxmlformats.org/officeDocument/2006/relationships/tableStyles" Target="/ppt/tableStyles.xml" Id="Rfd4f3fcc797845f4" /><Relationship Type="http://schemas.openxmlformats.org/officeDocument/2006/relationships/slide" Target="/ppt/slides/slide1.xml" Id="R9ed199ccc3e44ed3" /><Relationship Type="http://schemas.openxmlformats.org/officeDocument/2006/relationships/slide" Target="/ppt/slides/slide2.xml" Id="R4f8f8668bf8f49c9" /><Relationship Type="http://schemas.openxmlformats.org/officeDocument/2006/relationships/slide" Target="/ppt/slides/slide3.xml" Id="Rdb262a5c10cf4d9e" /><Relationship Type="http://schemas.openxmlformats.org/officeDocument/2006/relationships/slide" Target="/ppt/slides/slide4.xml" Id="R5c232bc27ec24082" /><Relationship Type="http://schemas.openxmlformats.org/officeDocument/2006/relationships/slide" Target="/ppt/slides/slide5.xml" Id="Rd24b3b3edc334a31" /><Relationship Type="http://schemas.openxmlformats.org/officeDocument/2006/relationships/slide" Target="/ppt/slides/slide6.xml" Id="Rbfcc74926cbc47aa" /><Relationship Type="http://schemas.openxmlformats.org/officeDocument/2006/relationships/slide" Target="/ppt/slides/slide7.xml" Id="R4b724a41bace4c3f" /><Relationship Type="http://schemas.openxmlformats.org/officeDocument/2006/relationships/slide" Target="/ppt/slides/slide8.xml" Id="R45ff42ea2beb4b96" /><Relationship Type="http://schemas.openxmlformats.org/officeDocument/2006/relationships/slide" Target="/ppt/slides/slide9.xml" Id="Rdedd7c9f06ce4172" /><Relationship Type="http://schemas.openxmlformats.org/officeDocument/2006/relationships/slide" Target="/ppt/slides/slide10.xml" Id="Rf36906a2fa3445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679a87bf7742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2ead78012c44e7" /><Relationship Type="http://schemas.openxmlformats.org/officeDocument/2006/relationships/notesMaster" Target="/ppt/notesMasters/notesMaster1.xml" Id="R1fc89b016017466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c4daff28b94764" /><Relationship Type="http://schemas.openxmlformats.org/officeDocument/2006/relationships/notesMaster" Target="/ppt/notesMasters/notesMaster1.xml" Id="R9763dd60e5bc49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61b0b3db194c70" /><Relationship Type="http://schemas.openxmlformats.org/officeDocument/2006/relationships/notesMaster" Target="/ppt/notesMasters/notesMaster1.xml" Id="R116db4a18a184d7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43864ae8e24121" /><Relationship Type="http://schemas.openxmlformats.org/officeDocument/2006/relationships/notesMaster" Target="/ppt/notesMasters/notesMaster1.xml" Id="Rb94b6a36b17945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22beeb786745d0" /><Relationship Type="http://schemas.openxmlformats.org/officeDocument/2006/relationships/notesMaster" Target="/ppt/notesMasters/notesMaster1.xml" Id="Raa3bf845b86243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be4caa3c51473d" /><Relationship Type="http://schemas.openxmlformats.org/officeDocument/2006/relationships/notesMaster" Target="/ppt/notesMasters/notesMaster1.xml" Id="Re880a1e1acc047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b752c8cd614005" /><Relationship Type="http://schemas.openxmlformats.org/officeDocument/2006/relationships/notesMaster" Target="/ppt/notesMasters/notesMaster1.xml" Id="R43dd0ed0237649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22fb6c050424919" /><Relationship Type="http://schemas.openxmlformats.org/officeDocument/2006/relationships/notesMaster" Target="/ppt/notesMasters/notesMaster1.xml" Id="Rf3fd3e24d6ff46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b56e7b76a54d6d" /><Relationship Type="http://schemas.openxmlformats.org/officeDocument/2006/relationships/notesMaster" Target="/ppt/notesMasters/notesMaster1.xml" Id="R34e65f3841db42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93a300a228f485d" /><Relationship Type="http://schemas.openxmlformats.org/officeDocument/2006/relationships/notesMaster" Target="/ppt/notesMasters/notesMaster1.xml" Id="R1d71a03b419845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SmartWaste DF em 20 segundos. O grupo é Anny, Arthur e Eduardo. Sensores e caminhões são virtuais, mas a troca MQTT e a hospedagem do histórico são reais. O link abre o repositório público.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cada ganho junto da contrapartida, sem apresentar percentuais de economia inventados. Ganhos observados: operação local continuou durante interrupção do enlace e o teste de repetição da API manteve uma linha. Contrapartidas: o histórico remoto atrasa, a fila ocupa disco e há confirmações e reenvios. O consumo adicional não foi quantificado. A falha da internet é diferente da queda da fog. Fonte: evidências locais, integração remota e cloud-smoke.json do pacote distribuído.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Edge é a borda: sensores e atuadores. Atuador é quem executa uma ação, como o caminhão seguir uma rota. Fog é a coordenação próxima aos dispositivos. A nuvem mantém o histórico remoto. O painel consulta a fog. HTTP local é a comunicação do navegador com o serviço no próprio computador. HTTPS protege o envio à internet.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MQTT é o protocolo usado para enviar mensagens. Broker encaminha as publicações aos programas interessados. ACK significa confirmação. A confirmação do broker e a confirmação da aplicação são diferentes. Um ID estável permite reconhecer e deduplicar repetições. Deduplicar significa impedir que a mesma leitura entre duas vezes no histórico. O fluxo usa MQTT 3.1.1, QoS 1. QoS é o nível de garantia de entrega do protocolo. QoS 1 admite repetições.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perda do enlace com a internet impede novos envios à nuvem. Os processos locais continuam se computador, broker e rede local permanecerem disponíveis. A edge mede e executa comandos. A fog continua decidindo e grava as leituras no SQLite, um banco no disco. O histórico remoto fica atrasado. Quando o enlace volta, a fog envia grupos de leituras, a nuvem confirma IDs e a fila pode diminuir. Novas leituras continuam chegando, então reconectar não significa zerar a fila imediatamente. Um lote em andamento antes de desconectar ainda pode concluir. O gráfico é de um teste local com envio à nuvem interrompido pelo controle, não um benchmark de internet pública. As categorias mostram instantes amostrados. Fonte: docs/evidence-local/timeline.csv. Disco cheio, falha da fog ou do computador são outras condições, sem garantia geral de ausência de perdas.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Canário é uma versão testada primeiro em poucos dispositivos. Cinco sensores testam e 27 ficam no controle. A versão com falha simula erros. Após pelo menos dez segundos e amostras mínimas, erro acima de 5% provoca rollback, ou seja, retorno à versão anterior. Firmware é o programa que funciona no sensor. Aqui a troca de versão é lógica: nenhuma placa física é atualizada.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docs/evidence-remote/result.json e timeline.csv do pacote da evolução. São contadores reais da execução com dados sintéticos. No ponto recuperado, a fog havia recebido 160 eventos, a nuvem confirmado 128 e a fila ainda tinha 32. 160 = 128 + 32 nesse instante. O aumento das confirmações evidencia recuperação enquanto novas leituras eram produzidas. As 32 leituras pendentes não representam perda comprovada. Não apresentar 80% como eficácia geral ou taxa de recuperação universal: é apenas a proporção desse instante. O envio por HTTPS e o armazenamento Postgres funcionam no Supabase Free em São Paulo. Free significa gratuito dentro das cotas, não ilimitado. A região não comprova ganho de latência.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Enviar o comando não prova que ele funcionou. O painel acompanha o identificador do comando e espera o ACK da edge. Mostra confirmação ou rejeição. Após 15 segundos sem resposta, orienta verificar MQTT e o terminal. Uma nova leitura mostra o estado efetivo após o comando.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PDF inclui mensagens MQTT, envios para a nuvem, fila e ações. Registra antes, confirmação, primeira leitura compatível e outra leitura após pelo menos dez segundos. Fazer uma mudança por vez e esperar cerca de doze segundos ajuda a comparar. Mudanças sobrepostas recebem aviso, porque não é possível separar seus efeitos. O relatório só registra ações feitas após a atualização.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GitHub contém a versão original e a documentação pública da evolução. A versão distribuída testada está no pacote da atividade. A apresentação não expõe credenciais. Se houver tempo, desconectar a nuvem, observar a fila, reconectar e exportar o 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5019f0ae3d48e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7062e0df494cf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82f367db22424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60d79c06884c0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dab1d848ea484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4dcfd7ec8345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52929D-D46B-4C7F-9482-BC526A7D9B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DA0DBD8-EC2B-47B0-BC47-B55B7BC378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FDFE26F-B624-4A18-87F7-65534D511E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E30599-F817-4F6C-8F0F-5156CBC079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22DE53E-64A6-4E2B-9A80-4349BDCA85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DCF450A-FF93-4DD9-A503-C5B42C01B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E360AE-ACD8-48A0-98A7-B5D2543105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8C733DD-C45F-4874-9E7C-690E366AE0E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FDB5BA-7B95-4318-8DCF-E278DCBD44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A698A8-38E0-431F-BDB6-531B9F034A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0edf255067f43db" /><Relationship Type="http://schemas.openxmlformats.org/officeDocument/2006/relationships/slideLayout" Target="/ppt/slideLayouts/slideLayout1.xml" Id="Rd0a2ac7017d947b3" /><Relationship Type="http://schemas.openxmlformats.org/officeDocument/2006/relationships/slideLayout" Target="/ppt/slideLayouts/slideLayout2.xml" Id="Rc4f0a972de204bc5" /><Relationship Type="http://schemas.openxmlformats.org/officeDocument/2006/relationships/slideLayout" Target="/ppt/slideLayouts/slideLayout3.xml" Id="Rf10ba99bb9be42f5" /><Relationship Type="http://schemas.openxmlformats.org/officeDocument/2006/relationships/slideLayout" Target="/ppt/slideLayouts/slideLayout4.xml" Id="R3dfacf31f7d044e3" /><Relationship Type="http://schemas.openxmlformats.org/officeDocument/2006/relationships/slideLayout" Target="/ppt/slideLayouts/slideLayout5.xml" Id="Re5aff8c08b474fd8" /><Relationship Type="http://schemas.openxmlformats.org/officeDocument/2006/relationships/slideLayout" Target="/ppt/slideLayouts/slideLayout6.xml" Id="Rb757501436874f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a2ac7017d947b3"/>
    <p:sldLayoutId xmlns:r="http://schemas.openxmlformats.org/officeDocument/2006/relationships" id="2147483650" r:id="Rc4f0a972de204bc5"/>
    <p:sldLayoutId xmlns:r="http://schemas.openxmlformats.org/officeDocument/2006/relationships" id="2147483651" r:id="Rf10ba99bb9be42f5"/>
    <p:sldLayoutId xmlns:r="http://schemas.openxmlformats.org/officeDocument/2006/relationships" id="2147483652" r:id="R3dfacf31f7d044e3"/>
    <p:sldLayoutId xmlns:r="http://schemas.openxmlformats.org/officeDocument/2006/relationships" id="2147483653" r:id="Re5aff8c08b474fd8"/>
    <p:sldLayoutId xmlns:r="http://schemas.openxmlformats.org/officeDocument/2006/relationships" id="2147483654" r:id="Rb757501436874f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804b01a22e4975" /><Relationship Type="http://schemas.openxmlformats.org/officeDocument/2006/relationships/hyperlink" Target="https://github.com/annygabb/IoT---Coleta" TargetMode="External" Id="Rdd8aed1c87154a8f" /><Relationship Type="http://schemas.openxmlformats.org/officeDocument/2006/relationships/notesSlide" Target="/ppt/notesSlides/notesSlide1.xml" Id="Rc4da398de7fa47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631ae0535f4d3c" /><Relationship Type="http://schemas.openxmlformats.org/officeDocument/2006/relationships/notesSlide" Target="/ppt/notesSlides/notesSlide2.xml" Id="R4b452b95534e41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76611c29604bc1" /><Relationship Type="http://schemas.openxmlformats.org/officeDocument/2006/relationships/notesSlide" Target="/ppt/notesSlides/notesSlide3.xml" Id="Rbd156d87c68a48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82821d67c740e5" /><Relationship Type="http://schemas.openxmlformats.org/officeDocument/2006/relationships/notesSlide" Target="/ppt/notesSlides/notesSlide4.xml" Id="Rbab69d8f40cb40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10b8bd07074b47" /><Relationship Type="http://schemas.openxmlformats.org/officeDocument/2006/relationships/chart" Target="/ppt/slides/charts/chart1.xml" Id="Rcf001bf761394db1" /><Relationship Type="http://schemas.openxmlformats.org/officeDocument/2006/relationships/notesSlide" Target="/ppt/notesSlides/notesSlide5.xml" Id="Rc49e49e55a274c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c328ad6e6b4f8e" /><Relationship Type="http://schemas.openxmlformats.org/officeDocument/2006/relationships/chart" Target="/ppt/slides/charts/chart2.xml" Id="Rab29a5adf6cf49bd" /><Relationship Type="http://schemas.openxmlformats.org/officeDocument/2006/relationships/notesSlide" Target="/ppt/notesSlides/notesSlide6.xml" Id="Rfc76dbc97a724d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69ab8019eb4e16" /><Relationship Type="http://schemas.openxmlformats.org/officeDocument/2006/relationships/chart" Target="/ppt/slides/charts/chart3.xml" Id="Re7baa6cc1ee34dab" /><Relationship Type="http://schemas.openxmlformats.org/officeDocument/2006/relationships/notesSlide" Target="/ppt/notesSlides/notesSlide7.xml" Id="Rf2b22fb753744a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28d0a9fbaf40d4" /><Relationship Type="http://schemas.openxmlformats.org/officeDocument/2006/relationships/notesSlide" Target="/ppt/notesSlides/notesSlide8.xml" Id="R7b0d4ce7bd59499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38922738e947d1" /><Relationship Type="http://schemas.openxmlformats.org/officeDocument/2006/relationships/notesSlide" Target="/ppt/notesSlides/notesSlide9.xml" Id="Raac7c76d94cc40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646f8c1b5d49b6" /><Relationship Type="http://schemas.openxmlformats.org/officeDocument/2006/relationships/hyperlink" Target="https://github.com/annygabb/IoT---Coleta" TargetMode="External" Id="Ra69a2bfdb5d34468" /><Relationship Type="http://schemas.openxmlformats.org/officeDocument/2006/relationships/notesSlide" Target="/ppt/notesSlides/notesSlide10.xml" Id="R1fa6914ef204439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Eventos pendentes</c:v>
          </c:tx>
          <c:spPr>
            <a:ln xmlns:a="http://schemas.openxmlformats.org/drawingml/2006/main" w="38100">
              <a:solidFill>
                <a:srgbClr val="167655"/>
              </a:solidFill>
              <a:prstDash val="solid"/>
            </a:ln>
          </c:spPr>
          <c:marker>
            <c:symbol val="none"/>
          </c:marker>
          <c:cat>
            <c:strRef>
              <c:f>'Chart Data'!$A$2:$A$11</c:f>
              <c:strCache>
                <c:ptCount val="10"/>
                <c:pt idx="0">
                  <c:v>2.4 s</c:v>
                </c:pt>
                <c:pt idx="1">
                  <c:v>2.4 s</c:v>
                </c:pt>
                <c:pt idx="2">
                  <c:v>3.4 s</c:v>
                </c:pt>
                <c:pt idx="3">
                  <c:v>4.4 s</c:v>
                </c:pt>
                <c:pt idx="4">
                  <c:v>5.4 s</c:v>
                </c:pt>
                <c:pt idx="5">
                  <c:v>6.4 s</c:v>
                </c:pt>
                <c:pt idx="6">
                  <c:v>7.4 s</c:v>
                </c:pt>
                <c:pt idx="7">
                  <c:v>8.4 s</c:v>
                </c:pt>
                <c:pt idx="8">
                  <c:v>11.5 s</c:v>
                </c:pt>
                <c:pt idx="9">
                  <c:v>21.8 s</c:v>
                </c:pt>
              </c:strCache>
            </c:strRef>
          </c:cat>
          <c:val>
            <c:numRef>
              <c:f>'Chart Data'!$B$2:$B$11</c:f>
              <c:numCache>
                <c:formatCode>General</c:formatCode>
                <c:ptCount val="10"/>
                <c:pt idx="0">
                  <c:v>32</c:v>
                </c:pt>
                <c:pt idx="1">
                  <c:v>32</c:v>
                </c:pt>
                <c:pt idx="2">
                  <c:v>64</c:v>
                </c:pt>
                <c:pt idx="3">
                  <c:v>96</c:v>
                </c:pt>
                <c:pt idx="4">
                  <c:v>96</c:v>
                </c:pt>
                <c:pt idx="5">
                  <c:v>128</c:v>
                </c:pt>
                <c:pt idx="6">
                  <c:v>160</c:v>
                </c:pt>
                <c:pt idx="7">
                  <c:v>192</c:v>
                </c:pt>
                <c:pt idx="8">
                  <c:v>0</c:v>
                </c:pt>
                <c:pt idx="9">
                  <c:v>32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DAD1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xmlns:r="http://schemas.openxmlformats.org/officeDocument/2006/relationships" r:id="rIdChartSnapshot1">
    <c:autoUpdate val="0"/>
  </c:externalData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Sensores</c:v>
          </c:tx>
          <c:spPr>
            <a:solidFill xmlns:a="http://schemas.openxmlformats.org/drawingml/2006/main">
              <a:srgbClr val="167655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Canário</c:v>
                </c:pt>
                <c:pt idx="1">
                  <c:v>Controle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</c:v>
                </c:pt>
                <c:pt idx="1">
                  <c:v>27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DAD1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xmlns:r="http://schemas.openxmlformats.org/officeDocument/2006/relationships"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Leituras</c:v>
          </c:tx>
          <c:spPr>
            <a:solidFill xmlns:a="http://schemas.openxmlformats.org/drawingml/2006/main">
              <a:srgbClr val="167655"/>
            </a:solidFill>
          </c:spPr>
          <c:invertIfNegative val="0"/>
          <c:dPt>
            <c:idx val="2"/>
            <c:invertIfNegative val="0"/>
            <c:spPr>
              <a:solidFill xmlns:a="http://schemas.openxmlformats.org/drawingml/2006/main">
                <a:srgbClr val="D9AD5B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Recebidos na fog</c:v>
                </c:pt>
                <c:pt idx="1">
                  <c:v>Confirmados na nuvem</c:v>
                </c:pt>
                <c:pt idx="2">
                  <c:v>Pendentes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160</c:v>
                </c:pt>
                <c:pt idx="1">
                  <c:v>128</c:v>
                </c:pt>
                <c:pt idx="2">
                  <c:v>32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DejaVu Sans"/>
                  <a:ea typeface="DejaVu Sans"/>
                  <a:cs typeface="DejaVu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72768"/>
      </c:catAx>
      <c:valAx>
        <c:axId val="48672768"/>
        <c:scaling>
          <c:orientation val="minMax"/>
          <c:max val="19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FDAD1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5F5EF"/>
        </a:solidFill>
      </c:spPr>
    </c:plotArea>
    <c:plotVisOnly val="1"/>
  </c:chart>
  <c:spPr>
    <a:solidFill xmlns:a="http://schemas.openxmlformats.org/drawingml/2006/main">
      <a:srgbClr val="F5F5E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5695B-1B18-417F-BC0F-3EFBBFA7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80ABBE-F246-47D4-B5A2-0F4E677A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SmartWaste DF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10B3F-A075-4280-BF3A-92619E22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57E041-E0CC-400B-9EA9-9773ACF1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7382DB-151A-49E4-832B-35EFB627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465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Edge, fog e nuvem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FF471-C38D-4D1F-874D-A24936339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Sensores medem. O sistema decide. A nuvem guarda.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7D8E50-BEF4-49F6-A381-B460F993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47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Engenharia de Software - Anny - Arthur - Eduardo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A0734-C29D-4674-AC8E-967912E5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dd8aed1c87154a8f"/>
              </a:rPr>
              <a:t>https://github.com/annygabb/IoT---Coleta</a:t>
            </a:r>
          </a:p>
        </p:txBody>
      </p:sp>
    </p:spTree>
    <p:extLst>
      <p:ext uri="{BB962C8B-B14F-4D97-AF65-F5344CB8AC3E}">
        <p14:creationId xmlns:p14="http://schemas.microsoft.com/office/powerpoint/2010/main" val="1803987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8ADD7-42F8-4CFB-92B8-B4ECD420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3AD06B-251D-40E7-BFF0-C450F187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Ganhos e contrapartidas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66C0B-F2A8-41C5-9288-1D9C295D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1E538-B947-48BB-A070-EFBCBC65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7C315-BD59-46DD-8DE0-5A740568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GANHOS OBSERVADOS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63773-6DC2-4409-BFF7-FD461A83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52625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LIMITES E CUSTOS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0F2A1-B749-4AF9-80F5-B73C581D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Coleta continua sem internet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7EFD8-FE58-4DF7-8733-C2FA12FE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 fog coordena a operação local.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0C5F9A-D3CD-4789-BCE3-66A7B1D5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86050"/>
            <a:ext cx="514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Histórico remoto chega depois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EF1F5F-1565-4795-9169-A2E89C0FD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7662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As leituras esperam na fila em disco.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FB2B5F-28F1-4D92-A75D-76104FD1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5238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Reenvio sem duplicar histórico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141E13-584F-43F9-82B9-B9C885CA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O mesmo ID identifica a leitura.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E0C3BC-C59C-4406-A1B5-96392D00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81500"/>
            <a:ext cx="514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Mais armazenamento e mensagens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585C56-0E9E-4A83-A872-C14F6BF7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7207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Fila, confirmações e reenvios usam recursos.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43983E-AF05-49DA-8B25-9E92343F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Se a fog parar, novas decisões também param.</a:t>
            </a:r>
          </a:p>
        </p:txBody>
      </p:sp>
    </p:spTree>
    <p:extLst>
      <p:ext uri="{BB962C8B-B14F-4D97-AF65-F5344CB8AC3E}">
        <p14:creationId xmlns:p14="http://schemas.microsoft.com/office/powerpoint/2010/main" val="18627748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478D59-4B1E-4FF5-A0F8-6BCC61F48A71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3790950"/>
            <a:ext cx="0" cy="1085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655"/>
            </a:solidFill>
            <a:prstDash val="solid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2C467-0B88-44D3-A79C-08B9C4666ADD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62000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655"/>
            </a:solidFill>
            <a:prstDash val="soli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F58FCC-93BD-40FF-8F86-7255720B2610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657600" y="3057525"/>
            <a:ext cx="914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7655"/>
            </a:solidFill>
            <a:prstDash val="soli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C131DC-2EFA-4EA2-97FA-D8254BAE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7C8CF-DDD8-402F-A8BC-8530F073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Quem faz o quê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5B5373-340F-423A-BA9D-4D790D37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37E5B-8B03-4C67-882F-E4C76E30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F3832-F4E5-438F-8A60-93E805EDF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3FFEB-7BBD-4650-A393-20023564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2705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EDGE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Mede e executa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25EC4B-D2A4-4F27-8B94-8282F6C1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241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3C066F-E619-47D0-B86E-B5FC898FF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14600"/>
            <a:ext cx="2705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FOG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Decide localmente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AB434F-C6DF-4CEA-A1BB-B195571A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24100"/>
            <a:ext cx="3048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4D94F6-3049-4B6A-9B99-A3213613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14600"/>
            <a:ext cx="27051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NUVEM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Guarda o histórico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812DC-EBFE-4894-A731-312FA99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76800"/>
            <a:ext cx="3048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676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1DA94E-C40B-4D97-84E8-360F66B3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067300"/>
            <a:ext cx="2705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PAINEL</a:t>
            </a:r>
          </a:p>
          <a:p xmlns:a="http://schemas.openxmlformats.org/drawingml/2006/main">
            <a:pPr>
              <a:buNone/>
              <a:def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Mostra os dados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ECCDCC-754B-447A-9308-58C77C0B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67000"/>
            <a:ext cx="85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C3D39-5557-4072-91E6-C73AE78F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667000"/>
            <a:ext cx="857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HTTPS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8105AA-3FB8-4B57-A37C-3D78A001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30530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Consulta local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E43DEE-A746-4409-A63E-3D0D1502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Edge = dispositivos. Fog = coordenação local. Nuvem = histórico remoto.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3FBA56-077E-4F47-8057-A6305155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 = mensagens. HTTPS = conexão protegida.</a:t>
            </a:r>
          </a:p>
        </p:txBody>
      </p:sp>
    </p:spTree>
    <p:extLst>
      <p:ext uri="{BB962C8B-B14F-4D97-AF65-F5344CB8AC3E}">
        <p14:creationId xmlns:p14="http://schemas.microsoft.com/office/powerpoint/2010/main" val="4810227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02224-C7AD-410D-99F8-A1D364329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1EAF0-8DBD-44B5-851E-392F1596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MQTT: troca de mensagens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EF156-8F08-4F1A-91B8-954B063DF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D6CF5-CAE4-4692-BCEE-0A16363D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F836E9-9A76-4D09-9B60-E40DD5AA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MQTT = envio de mensagens entre programas.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302FCA-F4A4-47E9-AE24-74BE560A4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Broker = central que encaminha as mensagens.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E2EC38-88A8-45D9-92E5-AA6456A0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76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4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ACK = resposta que confirma recebimento ou aplicação.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B0A4A-B76B-485E-8D59-5A62AFC4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ID = identificador que ajuda a reconhecer uma mensagem repetida.</a:t>
            </a:r>
          </a:p>
        </p:txBody>
      </p:sp>
    </p:spTree>
    <p:extLst>
      <p:ext uri="{BB962C8B-B14F-4D97-AF65-F5344CB8AC3E}">
        <p14:creationId xmlns:p14="http://schemas.microsoft.com/office/powerpoint/2010/main" val="113787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3FE118-867B-427E-A0F9-D7E032A7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8527F-2DEB-46B8-BE7B-0FF56018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Quando a internet falha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E226A-6FE6-4B88-A7A2-F47D9AD5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2FE25-8A44-49FE-BCB0-B7749553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14130289-157C-49CC-954B-7C9421E5F7D9}"/>
              </a:ext>
            </a:extLst>
          </p:cNvPr>
          <p:cNvGraphicFramePr/>
          <p:nvPr/>
        </p:nvGraphicFramePr>
        <p:xfrm>
          <a:off xmlns:a="http://schemas.openxmlformats.org/drawingml/2006/main" x="609600" y="3524250"/>
          <a:ext xmlns:a="http://schemas.openxmlformats.org/drawingml/2006/main" cx="10972800" cy="2000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001bf761394db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AEF52-1314-48C7-A555-95152539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5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Condição: computador, broker e rede local continuam funcionando.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D200A-5803-47E5-A289-35334DCEF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1. Sem internet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D3E3C2-0019-447E-8C7B-61E97830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Edge mede e executa.</a:t>
            </a:r>
          </a:p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Fog decide e guarda a fila.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94124C-F615-4D49-8B20-02D4E095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98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2. Enquanto espera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A6A2DD-488F-45CF-A050-1E918A6A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MQTT local continua.</a:t>
            </a:r>
          </a:p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Nuvem fica desatualizada.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9297C8-D3B7-45D3-AD3E-5471E92A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98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3. Após reconectar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4FDB9A-3552-48AE-B6A7-B1C5CA52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86050"/>
            <a:ext cx="3333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Fog reenvia em lotes.</a:t>
            </a:r>
          </a:p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Nuvem confirma os IDs.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4F4EE7-CEEE-4842-A665-F3F99DD0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Teste local: quantidade de leituras pendentes. s = segundos reais.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A8BD26-49E4-434B-A072-ADCB2F9E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Fila = leituras aguardando envio. Lote = grupo de leituras enviado junto.</a:t>
            </a:r>
          </a:p>
          <a:p xmlns:a="http://schemas.openxmlformats.org/drawingml/2006/main">
            <a:pPr>
              <a:def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Atraso no histórico remoto não comprova perda de dados.</a:t>
            </a:r>
          </a:p>
        </p:txBody>
      </p:sp>
    </p:spTree>
    <p:extLst>
      <p:ext uri="{BB962C8B-B14F-4D97-AF65-F5344CB8AC3E}">
        <p14:creationId xmlns:p14="http://schemas.microsoft.com/office/powerpoint/2010/main" val="18920678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0623AD-C0C4-42C1-A568-005DBDDC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CE3EA8-7D90-4732-ABCF-B967B8B8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Teste de versão em poucos sensores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B257D-7A2B-4A27-ACA3-36216BF5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C6247B-B0BD-4BF3-8A0C-168071E5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3923F7FF-8472-4B08-B931-5A694521DD5B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668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29a5adf6cf49b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674F34-F199-4B8A-96F6-F52D3D76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Canário = 5 testam. Controle = 27 mantêm a versão anterior.</a:t>
            </a:r>
          </a:p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Rollback = voltar à versão anterior após falha.</a:t>
            </a:r>
          </a:p>
        </p:txBody>
      </p:sp>
    </p:spTree>
    <p:extLst>
      <p:ext uri="{BB962C8B-B14F-4D97-AF65-F5344CB8AC3E}">
        <p14:creationId xmlns:p14="http://schemas.microsoft.com/office/powerpoint/2010/main" val="17283089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9006E-9B20-4C2B-A335-252153F9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4F6D04-6954-4E5A-BB7A-4FD8A80F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Recuperação: ganho e atraso observado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40778-93C1-446C-96BF-AC0A5C5C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EAFD2-0E31-49B2-A0D1-903261FE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045AD-BDF2-41DC-9E6E-4ADF2104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Teste remoto com Supabase: ponto observado após reconectar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1BDFEFD2-BD8F-4D05-A54B-B446C6DD2ED7}"/>
              </a:ext>
            </a:extLst>
          </p:cNvPr>
          <p:cNvGraphicFramePr/>
          <p:nvPr/>
        </p:nvGraphicFramePr>
        <p:xfrm>
          <a:off xmlns:a="http://schemas.openxmlformats.org/drawingml/2006/main" x="609600" y="2266950"/>
          <a:ext xmlns:a="http://schemas.openxmlformats.org/drawingml/2006/main" cx="68580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baa6cc1ee34dab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4E5E5-4EFD-46F7-A5A9-3DE3EA93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9825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GANHO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65C797-5557-495A-9964-9DF6DEC6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67025"/>
            <a:ext cx="333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128 leituras já tinham</a:t>
            </a:r>
          </a:p>
          <a:p xmlns:a="http://schemas.openxmlformats.org/drawingml/2006/main">
            <a: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confirmação da nuvem.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A6AA1-1D81-46A2-9B3A-84C14A6E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8145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936017"/>
                </a:solidFill>
                <a:latin typeface="DejaVu Sans"/>
                <a:ea typeface="DejaVu Sans"/>
                <a:cs typeface="DejaVu Sans"/>
              </a:rPr>
              <a:t>ATRASO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9CCA8E-06B7-4F55-9D08-2123D89F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38650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32 ainda aguardavam envio.</a:t>
            </a:r>
          </a:p>
          <a:p xmlns:a="http://schemas.openxmlformats.org/drawingml/2006/main">
            <a:pPr>
              <a:def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Pendente não significa perdido.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E7616E-37ED-4257-B276-45A694CC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Supabase = serviço na internet. Postgres = banco de dados.</a:t>
            </a:r>
          </a:p>
          <a:p xmlns:a="http://schemas.openxmlformats.org/drawingml/2006/main">
            <a:pPr>
              <a:def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HTTPS = conexão protegida. Hospedagem: São Paulo, plano Free.</a:t>
            </a:r>
          </a:p>
        </p:txBody>
      </p:sp>
    </p:spTree>
    <p:extLst>
      <p:ext uri="{BB962C8B-B14F-4D97-AF65-F5344CB8AC3E}">
        <p14:creationId xmlns:p14="http://schemas.microsoft.com/office/powerpoint/2010/main" val="13146803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C6927A-F878-4260-951F-A70CBE06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273D5-2715-48A9-8758-D6F01E19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Como saber se a mudança funcionou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6B5C8-367F-45AF-80D5-2C71DEF2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6181F5-BB4C-49AD-9FDA-12D84F86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FEE5EB-328E-4D61-BD2D-150BF9E6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Sem resposta após 15 s: aviso para verificar a conexão MQTT.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DF4DC-EFEE-4E68-A013-FDC033F6D878}"/>
              </a:ext>
            </a:extLst>
          </p:cNvPr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7734300"/>
              </a:tblGrid>
              <a:tr h="8096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Momento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 que aparece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Ao clicar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Comando enviado, aguardando a edge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Após o ACK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Confirmação ou motivo da rejeição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Após nova leitura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Estado observado com a alteração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35579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FFF03-CBE4-44CF-9C19-70E3F9A0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42BDC-5240-4302-B969-29C53AAD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O que aparece no PDF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B28E1-024B-4003-BD65-81BEC89D7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2677D4-F3FF-4B19-9F13-9E661851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151D25-98A3-43D4-8F37-9023E3E6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85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Antes = estado inicial. Depois = amostra após pelo menos 10 segundos.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E29B23-8DF3-4B23-9AEF-48F89C6C62F9}"/>
              </a:ext>
            </a:extLst>
          </p:cNvPr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8096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Informação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Para que serve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T w="9525">
                      <a:solidFill>
                        <a:srgbClr val="CFDAD1"/>
                      </a:solidFill>
                      <a:prstDash val="solid"/>
                    </a:lnT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167655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Mensagens e envios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Verificar a comunicação e a nuvem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Fila de dados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Acompanhar a queda e a recuperação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5F5E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 e depois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FDAD1"/>
                      </a:solidFill>
                      <a:prstDash val="solid"/>
                    </a:lnL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3B30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Comparar os efeitos das mudanças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FDAD1"/>
                      </a:solidFill>
                      <a:prstDash val="solid"/>
                    </a:lnR>
                    <a:lnB w="9525">
                      <a:solidFill>
                        <a:srgbClr val="CFDAD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87557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9542D6-B5BC-4A98-8D42-FE6BAEB9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SMARTWASTE DF  /  ENGENHARIA DE SOFTWARE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6AB58-3225-4B8D-A4A2-4CFD7C69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Projeto e materiais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DFA7C7-2FCB-4AB1-AF8D-29ED0D053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0AC300-51CD-49B2-8D2A-21AC3958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75768-27B7-4F9D-A174-28712E3C4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67655"/>
                </a:solidFill>
                <a:latin typeface="DejaVu Sans"/>
                <a:ea typeface="DejaVu Sans"/>
                <a:cs typeface="DejaVu Sans"/>
              </a:rPr>
              <a:t>Anny, Arthur e Eduardo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FABE8-9E9A-4325-8E0C-23CABDFF9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167655"/>
                </a:solidFill>
                <a:latin typeface="DejaVu Sans"/>
                <a:ea typeface="DejaVu Sans"/>
                <a:cs typeface="DejaVu Sans"/>
              </a:defRPr>
            </a:pPr>
            <a:r>
              <a:rPr>
                <a:hlinkClick xmlns:r="http://schemas.openxmlformats.org/officeDocument/2006/relationships" r:id="Ra69a2bfdb5d34468"/>
              </a:rPr>
              <a:t>https://github.com/annygabb/IoT---Coleta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82BC56-1FAF-4E3C-81C9-AD9368E3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66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32 lixeiras e 3 caminhões virtuais.</a:t>
            </a:r>
          </a:p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Comunicação MQTT real e histórico no Supabase.</a:t>
            </a:r>
          </a:p>
          <a:p xmlns:a="http://schemas.openxmlformats.org/drawingml/2006/main">
            <a:pPr>
              <a:buNone/>
              <a:def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83B30"/>
                </a:solidFill>
                <a:latin typeface="DejaVu Sans"/>
                <a:ea typeface="DejaVu Sans"/>
                <a:cs typeface="DejaVu Sans"/>
              </a:rPr>
              <a:t>Relatório com as mudanças e os resultados dos testes.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D9E5DB-A7EA-4B81-B312-AFFCA618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F736B"/>
                </a:solidFill>
                <a:latin typeface="DejaVu Sans"/>
                <a:ea typeface="DejaVu Sans"/>
                <a:cs typeface="DejaVu Sans"/>
              </a:rPr>
              <a:t>GitHub: código original e documentação. Versão distribuída: pacote da atividade.</a:t>
            </a:r>
          </a:p>
        </p:txBody>
      </p:sp>
    </p:spTree>
    <p:extLst>
      <p:ext uri="{BB962C8B-B14F-4D97-AF65-F5344CB8AC3E}">
        <p14:creationId xmlns:p14="http://schemas.microsoft.com/office/powerpoint/2010/main" val="16198364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2026-10-19T17:21:18.1880000Z</dcterms:created>
  <dcterms:modified xsi:type="dcterms:W3CDTF">2026-10-19T17:21:18.1880000Z</dcterms:modified>
</coreProperties>
</file>