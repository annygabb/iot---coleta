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4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cf18663a034e7d" /><Relationship Type="http://schemas.openxmlformats.org/officeDocument/2006/relationships/extended-properties" Target="/docProps/app.xml" Id="R30490156685c430e" /><Relationship Type="http://schemas.openxmlformats.org/officeDocument/2006/relationships/officeDocument" Target="/ppt/presentation.xml" Id="R5360a5cd10c64e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d44bd75ecc4750"/>
  </p:sldMasterIdLst>
  <p:notesMasterIdLst>
    <p:notesMasterId xmlns:r="http://schemas.openxmlformats.org/officeDocument/2006/relationships" r:id="R2dbfcf0e01a04f4b"/>
  </p:notesMasterIdLst>
  <p:sldIdLst>
    <p:sldId xmlns:r="http://schemas.openxmlformats.org/officeDocument/2006/relationships" id="256" r:id="R4a026f245e1c4c98"/>
    <p:sldId xmlns:r="http://schemas.openxmlformats.org/officeDocument/2006/relationships" id="257" r:id="Rde49b4ed3f044ce7"/>
    <p:sldId xmlns:r="http://schemas.openxmlformats.org/officeDocument/2006/relationships" id="258" r:id="R1d8edd7c69684bd7"/>
    <p:sldId xmlns:r="http://schemas.openxmlformats.org/officeDocument/2006/relationships" id="259" r:id="Rc18231eaa87342f9"/>
    <p:sldId xmlns:r="http://schemas.openxmlformats.org/officeDocument/2006/relationships" id="260" r:id="Ra929f6c7e25a41a2"/>
    <p:sldId xmlns:r="http://schemas.openxmlformats.org/officeDocument/2006/relationships" id="261" r:id="R552ba897d29242c4"/>
    <p:sldId xmlns:r="http://schemas.openxmlformats.org/officeDocument/2006/relationships" id="262" r:id="Ra0d1267665b441f9"/>
    <p:sldId xmlns:r="http://schemas.openxmlformats.org/officeDocument/2006/relationships" id="263" r:id="R321155b100804eee"/>
    <p:sldId xmlns:r="http://schemas.openxmlformats.org/officeDocument/2006/relationships" id="264" r:id="Re02697bce1d149eb"/>
    <p:sldId xmlns:r="http://schemas.openxmlformats.org/officeDocument/2006/relationships" id="266" r:id="R911e934970524c7c"/>
    <p:sldId xmlns:r="http://schemas.openxmlformats.org/officeDocument/2006/relationships" id="267" r:id="R6a032e918c684cf2"/>
    <p:sldId xmlns:r="http://schemas.openxmlformats.org/officeDocument/2006/relationships" id="268" r:id="R32b55fb0ee9a4e09"/>
    <p:sldId xmlns:r="http://schemas.openxmlformats.org/officeDocument/2006/relationships" id="269" r:id="R7cec8ed2ab12459d"/>
    <p:sldId xmlns:r="http://schemas.openxmlformats.org/officeDocument/2006/relationships" id="265" r:id="Raaf6bada3a0248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7d2216c2ab484b" /><Relationship Type="http://schemas.openxmlformats.org/officeDocument/2006/relationships/slideMaster" Target="/ppt/slideMasters/slideMaster1.xml" Id="R3bd44bd75ecc4750" /><Relationship Type="http://schemas.openxmlformats.org/officeDocument/2006/relationships/notesMaster" Target="/ppt/notesMasters/notesMaster1.xml" Id="R2dbfcf0e01a04f4b" /><Relationship Type="http://schemas.openxmlformats.org/officeDocument/2006/relationships/presProps" Target="/ppt/presProps.xml" Id="Ra71dbec01f23436c" /><Relationship Type="http://schemas.openxmlformats.org/officeDocument/2006/relationships/tableStyles" Target="/ppt/tableStyles.xml" Id="Re93fd3d8a5684431" /><Relationship Type="http://schemas.openxmlformats.org/officeDocument/2006/relationships/slide" Target="/ppt/slides/slide1.xml" Id="R4a026f245e1c4c98" /><Relationship Type="http://schemas.openxmlformats.org/officeDocument/2006/relationships/slide" Target="/ppt/slides/slide2.xml" Id="Rde49b4ed3f044ce7" /><Relationship Type="http://schemas.openxmlformats.org/officeDocument/2006/relationships/slide" Target="/ppt/slides/slide3.xml" Id="R1d8edd7c69684bd7" /><Relationship Type="http://schemas.openxmlformats.org/officeDocument/2006/relationships/slide" Target="/ppt/slides/slide4.xml" Id="Rc18231eaa87342f9" /><Relationship Type="http://schemas.openxmlformats.org/officeDocument/2006/relationships/slide" Target="/ppt/slides/slide5.xml" Id="Ra929f6c7e25a41a2" /><Relationship Type="http://schemas.openxmlformats.org/officeDocument/2006/relationships/slide" Target="/ppt/slides/slide6.xml" Id="R552ba897d29242c4" /><Relationship Type="http://schemas.openxmlformats.org/officeDocument/2006/relationships/slide" Target="/ppt/slides/slide7.xml" Id="Ra0d1267665b441f9" /><Relationship Type="http://schemas.openxmlformats.org/officeDocument/2006/relationships/slide" Target="/ppt/slides/slide8.xml" Id="R321155b100804eee" /><Relationship Type="http://schemas.openxmlformats.org/officeDocument/2006/relationships/slide" Target="/ppt/slides/slide9.xml" Id="Re02697bce1d149eb" /><Relationship Type="http://schemas.openxmlformats.org/officeDocument/2006/relationships/slide" Target="/ppt/slides/slide10.xml" Id="Raaf6bada3a0248c1" /><Relationship Type="http://schemas.openxmlformats.org/officeDocument/2006/relationships/slide" Target="/ppt/slides/slide11.xml" Id="R911e934970524c7c" /><Relationship Type="http://schemas.openxmlformats.org/officeDocument/2006/relationships/slide" Target="/ppt/slides/slide12.xml" Id="R6a032e918c684cf2" /><Relationship Type="http://schemas.openxmlformats.org/officeDocument/2006/relationships/slide" Target="/ppt/slides/slide13.xml" Id="R32b55fb0ee9a4e09" /><Relationship Type="http://schemas.openxmlformats.org/officeDocument/2006/relationships/slide" Target="/ppt/slides/slide14.xml" Id="R7cec8ed2ab1245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a10293687b43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406735ab1042ab" /><Relationship Type="http://schemas.openxmlformats.org/officeDocument/2006/relationships/notesMaster" Target="/ppt/notesMasters/notesMaster1.xml" Id="Rf7a9694d9d1947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9c7ce1e1fb4308" /><Relationship Type="http://schemas.openxmlformats.org/officeDocument/2006/relationships/notesMaster" Target="/ppt/notesMasters/notesMaster1.xml" Id="R98eef617499b45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f5e5f1c65045c7" /><Relationship Type="http://schemas.openxmlformats.org/officeDocument/2006/relationships/notesMaster" Target="/ppt/notesMasters/notesMaster1.xml" Id="R7080a76ea0e249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85842e4c764678" /><Relationship Type="http://schemas.openxmlformats.org/officeDocument/2006/relationships/notesMaster" Target="/ppt/notesMasters/notesMaster1.xml" Id="R0544f78e64a845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f8a2b4c6e447de" /><Relationship Type="http://schemas.openxmlformats.org/officeDocument/2006/relationships/notesMaster" Target="/ppt/notesMasters/notesMaster1.xml" Id="R6a7d780afb434e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2d27a03c0f42e1" /><Relationship Type="http://schemas.openxmlformats.org/officeDocument/2006/relationships/notesMaster" Target="/ppt/notesMasters/notesMaster1.xml" Id="R9d2250ddbe3b4a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6840d6e45d4b11" /><Relationship Type="http://schemas.openxmlformats.org/officeDocument/2006/relationships/notesMaster" Target="/ppt/notesMasters/notesMaster1.xml" Id="R4fd8ced27cc342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243afc643d4331" /><Relationship Type="http://schemas.openxmlformats.org/officeDocument/2006/relationships/notesMaster" Target="/ppt/notesMasters/notesMaster1.xml" Id="Rd3cfef73a50c43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f79fa256954f6d" /><Relationship Type="http://schemas.openxmlformats.org/officeDocument/2006/relationships/notesMaster" Target="/ppt/notesMasters/notesMaster1.xml" Id="R684283cf709642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48ad4964d94719" /><Relationship Type="http://schemas.openxmlformats.org/officeDocument/2006/relationships/notesMaster" Target="/ppt/notesMasters/notesMaster1.xml" Id="R5892620712bc4d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d0b13291f14fe6" /><Relationship Type="http://schemas.openxmlformats.org/officeDocument/2006/relationships/notesMaster" Target="/ppt/notesMasters/notesMaster1.xml" Id="R65b67b4b388a46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f5fb3c794e41de" /><Relationship Type="http://schemas.openxmlformats.org/officeDocument/2006/relationships/notesMaster" Target="/ppt/notesMasters/notesMaster1.xml" Id="R9c9d5d01addc46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a3ae75f651435e" /><Relationship Type="http://schemas.openxmlformats.org/officeDocument/2006/relationships/notesMaster" Target="/ppt/notesMasters/notesMaster1.xml" Id="Rb53483018e0746f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4bc4293e2a4123" /><Relationship Type="http://schemas.openxmlformats.org/officeDocument/2006/relationships/notesMaster" Target="/ppt/notesMasters/notesMaster1.xml" Id="Rf6bacbdd86de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SmartWaste DF em 20 segundos. O grupo é Anny, Arthur, Eduardo e Jéssica. Sensores e caminhões são virtuais, mas a troca MQTT e a hospedagem do histórico são reais. O link abre o repositório público.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cada ganho junto da contrapartida, sem apresentar percentuais de economia inventados. Ganhos observados: operação local continuou durante interrupção do enlace e o teste de repetição da API manteve uma linha. Contrapartidas: o histórico remoto atrasa, a fila ocupa disco e há confirmações e reenvios. O consumo adicional não foi quantificado. A falha da internet é diferente da queda da fog. Fonte: evidências locais, integração remota e cloud-smoke.json do pacote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Edge é a borda: sensores e atuadores. Atuador é quem executa uma ação, como o caminhão seguir uma rota. Fog é a coordenação próxima aos dispositivos. A nuvem mantém o histórico remoto. O painel consulta a fog. HTTP local é a comunicação do navegador com o serviço no próprio computador. HTTPS protege o envio à internet.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MQTT é o protocolo usado para enviar mensagens. Broker encaminha as publicações aos programas interessados. ACK significa confirmação. A confirmação do broker e a confirmação da aplicação são diferentes. Um ID estável permite reconhecer e deduplicar repetições. Deduplicar significa impedir que a mesma leitura entre duas vezes no histórico. O fluxo usa MQTT 3.1.1, QoS 1. QoS é o nível de garantia de entrega do protocolo. QoS 1 admite repetições.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perda do enlace com a internet impede novos envios à nuvem. Os processos locais continuam se computador, broker e rede local permanecerem disponíveis. A edge mede e executa comandos. A fog continua decidindo e grava as leituras no SQLite, um banco no disco. O histórico remoto fica atrasado. Quando o enlace volta, a fog envia grupos de leituras, a nuvem confirma IDs e a fila pode diminuir. Novas leituras continuam chegando, então reconectar não significa zerar a fila imediatamente. Um lote em andamento antes de desconectar ainda pode concluir. O gráfico é de um teste local com envio à nuvem interrompido pelo controle, não um benchmark de internet pública. As categorias mostram instantes amostrados. Fonte: docs/evidence-local/timeline.csv. Disco cheio, falha da fog ou do computador são outras condições, sem garantia geral de ausência de perdas.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Canário é uma versão testada primeiro em poucos dispositivos. Cinco sensores testam e 27 ficam no controle. A versão com falha simula erros. Após pelo menos dez segundos e amostras mínimas, erro acima de 5% provoca rollback, ou seja, retorno à versão anterior. Firmware é o programa que funciona no sensor. Aqui a troca de versão é lógica: nenhuma placa física é atualizada.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docs/evidence-remote/result.json e timeline.csv do pacote da evolução. São contadores reais da execução com dados sintéticos. No ponto recuperado, a fog havia recebido 160 eventos, a nuvem confirmado 128 e a fila ainda tinha 32. 160 = 128 + 32 nesse instante. O aumento das confirmações evidencia recuperação enquanto novas leituras eram produzidas. As 32 leituras pendentes não representam perda comprovada. Não apresentar 80% como eficácia geral ou taxa de recuperação universal: é apenas a proporção desse instante. O envio por HTTPS e o armazenamento Postgres funcionam no Supabase Free em São Paulo. Free significa gratuito dentro das cotas, não ilimitado. A região não comprova ganho de latência.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Enviar o comando não prova que ele funcionou. O painel acompanha o identificador do comando e espera o ACK da edge. Mostra confirmação ou rejeição. Após 15 segundos sem resposta, orienta verificar MQTT e o terminal. Uma nova leitura mostra o estado efetivo após o comando.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PDF inclui mensagens MQTT, envios para a nuvem, fila e ações. Registra antes, confirmação, primeira leitura compatível e outra leitura após pelo menos dez segundos. Fazer uma mudança por vez e esperar cerca de doze segundos ajuda a comparar. Mudanças sobrepostas recebem aviso, porque não é possível separar seus efeitos. O relatório só registra ações feitas após a atualização.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repositório público passa a conter o código distribuído sem o JSON privado. A entrega de 20/10 passou em 60 testes Python e 28 JavaScript. O ensaio integrou MQTT real, dois eventos rurais, nuvem emulada e clientes Python, Node e Java. A função Supabase com o endpoint canônico e o SQL adicional estão preparados no GitHub, mas não foram implantados nesta etapa. O fluxo das lixeiras continua compatível com a função já publicada. Não há teste real de 72 horas nem comprovação de SLA ou economia em campo. Grupo: Anny, Arthur, Eduardo e Jéssica.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Formato canônico significa um contrato comum. Um sensor de lixeira e um sensor de solo publicam quem mediu, quando mediu e quais grandezas mediu. Timestamp é data e hora com fuso. UTC é a referência de horário usada no contrato. UUID é um identificador único. No adaptador do SmartWaste, ele é determinístico a partir do event_id existente e se mantém no reenvio. O formato antigo e a física do simulador permanecem. Fonte: apps/distributed/platform_contract.py, contracts/telemetry-1.0.schema.json e testes/distributed/test_platform.py da entrega de 20/10/2026.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catálogo é persistente e gerenciado pela API local. Primeiro cadastramos domínio e perfil, depois local e dispositivo. Perfil define quais grandezas e unidades são aceitas. Uma medida fora da faixa pode ser conservada como suspeita; erro de estrutura ou unidade incompatível vai para quarentena. O teste criou um sensor de solo por cadastro, sem mudar código. Não há tela nova de cadastro nem irrigação automática. Fonte: apps/distributed/catalog.py, catalog-default.json, platform_api.py e ensaio integrado local de 20/10/2026.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teste test_batch_5000_keeps_4997 envia cinco mil mensagens. Três usam uma versão de contrato inválida. A ingestão aceita 4.997 e registra três recusas com índice e motivo. A barra das três é pequena porque o eixo usa a mesma escala. A quarentena conserva o erro e não equivale a uma confirmação da nuvem. O resultado é desse teste local e não uma taxa universal de confiabilidade. A fila de transporte usa lotes limitados por bytes e quantidade para evitar erro 413. Fonte: tests/distributed/test_platform.py e docs/evidence-platform/python.txt.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Este quadro é um exemplo didático, não uma captura de dispositivo real. A consulta ordena pelo horário da medição e permite filtrar período, dispositivo, área e grandeza. O estado mais novo não depende da ordem de chegada. Há uma diferença adicional no simulador: o relógio virtual pode reiniciar. Por isso, o histórico adaptado usa simulated_at, enquanto o último estado das lixeiras usa a observação real emitted_at. O captured_at do snapshot protege o painel entre boots diferentes. Sensores canônicos nativos usam seu timestamp para determinar a última medição. Fonte: ingestion.py, core.py e testes de atraso e reinício.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e7aa030d0f4d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63b283a9804bc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e9fd2b42d5419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47ab76024b4b1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4e8a06d2047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a8d22974246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52929D-D46B-4C7F-9482-BC526A7D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A0DBD8-EC2B-47B0-BC47-B55B7BC378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FDFE26F-B624-4A18-87F7-65534D511E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E30599-F817-4F6C-8F0F-5156CBC079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2DE53E-64A6-4E2B-9A80-4349BDCA85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CF450A-FF93-4DD9-A503-C5B42C01B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E360AE-ACD8-48A0-98A7-B5D254310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C733DD-C45F-4874-9E7C-690E366AE0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FDB5BA-7B95-4318-8DCF-E278DCBD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A698A8-38E0-431F-BDB6-531B9F034A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530c52e50a46b6" /><Relationship Type="http://schemas.openxmlformats.org/officeDocument/2006/relationships/slideLayout" Target="/ppt/slideLayouts/slideLayout1.xml" Id="Rc9512a286f22412e" /><Relationship Type="http://schemas.openxmlformats.org/officeDocument/2006/relationships/slideLayout" Target="/ppt/slideLayouts/slideLayout2.xml" Id="R75dcf65d6bef4641" /><Relationship Type="http://schemas.openxmlformats.org/officeDocument/2006/relationships/slideLayout" Target="/ppt/slideLayouts/slideLayout3.xml" Id="R4bfdae1fd4784804" /><Relationship Type="http://schemas.openxmlformats.org/officeDocument/2006/relationships/slideLayout" Target="/ppt/slideLayouts/slideLayout4.xml" Id="Rb8f009557d514634" /><Relationship Type="http://schemas.openxmlformats.org/officeDocument/2006/relationships/slideLayout" Target="/ppt/slideLayouts/slideLayout5.xml" Id="R2a3653591c7a4b25" /><Relationship Type="http://schemas.openxmlformats.org/officeDocument/2006/relationships/slideLayout" Target="/ppt/slideLayouts/slideLayout6.xml" Id="Rfa935f24702144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512a286f22412e"/>
    <p:sldLayoutId xmlns:r="http://schemas.openxmlformats.org/officeDocument/2006/relationships" id="2147483650" r:id="R75dcf65d6bef4641"/>
    <p:sldLayoutId xmlns:r="http://schemas.openxmlformats.org/officeDocument/2006/relationships" id="2147483651" r:id="R4bfdae1fd4784804"/>
    <p:sldLayoutId xmlns:r="http://schemas.openxmlformats.org/officeDocument/2006/relationships" id="2147483652" r:id="Rb8f009557d514634"/>
    <p:sldLayoutId xmlns:r="http://schemas.openxmlformats.org/officeDocument/2006/relationships" id="2147483653" r:id="R2a3653591c7a4b25"/>
    <p:sldLayoutId xmlns:r="http://schemas.openxmlformats.org/officeDocument/2006/relationships" id="2147483654" r:id="Rfa935f24702144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04b01a22e4975" /><Relationship Type="http://schemas.openxmlformats.org/officeDocument/2006/relationships/hyperlink" Target="https://github.com/annygabb/IoT---Coleta" TargetMode="External" Id="Rdd8aed1c87154a8f" /><Relationship Type="http://schemas.openxmlformats.org/officeDocument/2006/relationships/notesSlide" Target="/ppt/notesSlides/notesSlide1.xml" Id="Rc4da398de7fa47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631ae0535f4d3c" /><Relationship Type="http://schemas.openxmlformats.org/officeDocument/2006/relationships/notesSlide" Target="/ppt/notesSlides/notesSlide2.xml" Id="R4b452b95534e41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76611c29604bc1" /><Relationship Type="http://schemas.openxmlformats.org/officeDocument/2006/relationships/notesSlide" Target="/ppt/notesSlides/notesSlide3.xml" Id="Rbd156d87c68a48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82821d67c740e5" /><Relationship Type="http://schemas.openxmlformats.org/officeDocument/2006/relationships/notesSlide" Target="/ppt/notesSlides/notesSlide4.xml" Id="Rbab69d8f40cb40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0b8bd07074b47" /><Relationship Type="http://schemas.openxmlformats.org/officeDocument/2006/relationships/chart" Target="/ppt/slides/charts/chart1.xml" Id="Rcf001bf761394db1" /><Relationship Type="http://schemas.openxmlformats.org/officeDocument/2006/relationships/notesSlide" Target="/ppt/notesSlides/notesSlide5.xml" Id="Rc49e49e55a274c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c328ad6e6b4f8e" /><Relationship Type="http://schemas.openxmlformats.org/officeDocument/2006/relationships/chart" Target="/ppt/slides/charts/chart2.xml" Id="Rab29a5adf6cf49bd" /><Relationship Type="http://schemas.openxmlformats.org/officeDocument/2006/relationships/notesSlide" Target="/ppt/notesSlides/notesSlide6.xml" Id="Rfc76dbc97a724d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9ab8019eb4e16" /><Relationship Type="http://schemas.openxmlformats.org/officeDocument/2006/relationships/chart" Target="/ppt/slides/charts/chart3.xml" Id="Re7baa6cc1ee34dab" /><Relationship Type="http://schemas.openxmlformats.org/officeDocument/2006/relationships/notesSlide" Target="/ppt/notesSlides/notesSlide7.xml" Id="Rf2b22fb753744a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28d0a9fbaf40d4" /><Relationship Type="http://schemas.openxmlformats.org/officeDocument/2006/relationships/notesSlide" Target="/ppt/notesSlides/notesSlide8.xml" Id="R7b0d4ce7bd5949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8922738e947d1" /><Relationship Type="http://schemas.openxmlformats.org/officeDocument/2006/relationships/notesSlide" Target="/ppt/notesSlides/notesSlide9.xml" Id="Raac7c76d94cc40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ae26f994243bc" /><Relationship Type="http://schemas.openxmlformats.org/officeDocument/2006/relationships/hyperlink" Target="https://github.com/annygabb/IoT---Coleta" TargetMode="External" Id="Rb024f856ac454544" /><Relationship Type="http://schemas.openxmlformats.org/officeDocument/2006/relationships/notesSlide" Target="/ppt/notesSlides/notesSlide10.xml" Id="R7d73a727079342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72b4f734f0444c" /><Relationship Type="http://schemas.openxmlformats.org/officeDocument/2006/relationships/notesSlide" Target="/ppt/notesSlides/notesSlide11.xml" Id="Rc1e38c0a4ea7481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c15b4761d546ba" /><Relationship Type="http://schemas.openxmlformats.org/officeDocument/2006/relationships/notesSlide" Target="/ppt/notesSlides/notesSlide12.xml" Id="R85328490d1e54f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5116160d4344ee" /><Relationship Type="http://schemas.openxmlformats.org/officeDocument/2006/relationships/chart" Target="/ppt/slides/charts/chart4.xml" Id="R7889cc3dd2344a19" /><Relationship Type="http://schemas.openxmlformats.org/officeDocument/2006/relationships/notesSlide" Target="/ppt/notesSlides/notesSlide13.xml" Id="R3dfc85b41f0c40e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992b53537d470f" /><Relationship Type="http://schemas.openxmlformats.org/officeDocument/2006/relationships/notesSlide" Target="/ppt/notesSlides/notesSlide14.xml" Id="Rcdf9785b6be847a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Eventos pendentes</c:v>
          </c:tx>
          <c:spPr>
            <a:ln xmlns:a="http://schemas.openxmlformats.org/drawingml/2006/main" w="38100">
              <a:solidFill>
                <a:srgbClr val="167655"/>
              </a:solidFill>
              <a:prstDash val="solid"/>
            </a:ln>
          </c:spPr>
          <c:marker>
            <c:symbol val="none"/>
          </c:marker>
          <c:cat>
            <c:strRef>
              <c:f>'Chart Data'!$A$2:$A$11</c:f>
              <c:strCache>
                <c:ptCount val="10"/>
                <c:pt idx="0">
                  <c:v>2.4 s</c:v>
                </c:pt>
                <c:pt idx="1">
                  <c:v>2.4 s</c:v>
                </c:pt>
                <c:pt idx="2">
                  <c:v>3.4 s</c:v>
                </c:pt>
                <c:pt idx="3">
                  <c:v>4.4 s</c:v>
                </c:pt>
                <c:pt idx="4">
                  <c:v>5.4 s</c:v>
                </c:pt>
                <c:pt idx="5">
                  <c:v>6.4 s</c:v>
                </c:pt>
                <c:pt idx="6">
                  <c:v>7.4 s</c:v>
                </c:pt>
                <c:pt idx="7">
                  <c:v>8.4 s</c:v>
                </c:pt>
                <c:pt idx="8">
                  <c:v>11.5 s</c:v>
                </c:pt>
                <c:pt idx="9">
                  <c:v>21.8 s</c:v>
                </c:pt>
              </c:strCache>
            </c:str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32</c:v>
                </c:pt>
                <c:pt idx="1">
                  <c:v>32</c:v>
                </c:pt>
                <c:pt idx="2">
                  <c:v>64</c:v>
                </c:pt>
                <c:pt idx="3">
                  <c:v>96</c:v>
                </c:pt>
                <c:pt idx="4">
                  <c:v>96</c:v>
                </c:pt>
                <c:pt idx="5">
                  <c:v>128</c:v>
                </c:pt>
                <c:pt idx="6">
                  <c:v>160</c:v>
                </c:pt>
                <c:pt idx="7">
                  <c:v>192</c:v>
                </c:pt>
                <c:pt idx="8">
                  <c:v>0</c:v>
                </c:pt>
                <c:pt idx="9">
                  <c:v>32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Sensores</c:v>
          </c:tx>
          <c:spPr>
            <a:solidFill xmlns:a="http://schemas.openxmlformats.org/drawingml/2006/main">
              <a:srgbClr val="167655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Canário</c:v>
                </c:pt>
                <c:pt idx="1">
                  <c:v>Controle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</c:v>
                </c:pt>
                <c:pt idx="1">
                  <c:v>27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Leituras</c:v>
          </c:tx>
          <c:spPr>
            <a:solidFill xmlns:a="http://schemas.openxmlformats.org/drawingml/2006/main">
              <a:srgbClr val="167655"/>
            </a:solidFill>
          </c:spPr>
          <c:invertIfNegative val="0"/>
          <c:dPt>
            <c:idx val="2"/>
            <c:invertIfNegative val="0"/>
            <c:spPr>
              <a:solidFill xmlns:a="http://schemas.openxmlformats.org/drawingml/2006/main">
                <a:srgbClr val="D9AD5B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Recebidos na fog</c:v>
                </c:pt>
                <c:pt idx="1">
                  <c:v>Confirmados na nuvem</c:v>
                </c:pt>
                <c:pt idx="2">
                  <c:v>Pendentes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160</c:v>
                </c:pt>
                <c:pt idx="1">
                  <c:v>128</c:v>
                </c:pt>
                <c:pt idx="2">
                  <c:v>32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ax val="19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Mensagens</c:v>
          </c:tx>
          <c:spPr>
            <a:solidFill xmlns:a="http://schemas.openxmlformats.org/drawingml/2006/main">
              <a:srgbClr val="167655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D9AD5B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Aceitas</c:v>
                </c:pt>
                <c:pt idx="1">
                  <c:v>Isoladas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4997</c:v>
                </c:pt>
                <c:pt idx="1">
                  <c:v>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ax val="5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5695B-1B18-417F-BC0F-3EFBBFA7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0ABBE-F246-47D4-B5A2-0F4E677A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SmartWaste 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10B3F-A075-4280-BF3A-92619E22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7E041-E0CC-400B-9EA9-9773ACF1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382DB-151A-49E4-832B-35EFB627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Edge, fog e nuvem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FF471-C38D-4D1F-874D-A2493633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Coleta local e integração de novos sensores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D8E50-BEF4-49F6-A381-B460F993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Engenharia de Software - Anny - Arthur - Eduardo - Jéssica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A0734-C29D-4674-AC8E-967912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dd8aed1c87154a8f"/>
              </a:rPr>
              <a:t>https://github.com/annygabb/IoT---Coleta</a:t>
            </a:r>
          </a:p>
        </p:txBody>
      </p:sp>
    </p:spTree>
    <p:extLst>
      <p:ext uri="{BB962C8B-B14F-4D97-AF65-F5344CB8AC3E}">
        <p14:creationId xmlns:p14="http://schemas.microsoft.com/office/powerpoint/2010/main" val="1803987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8ADD7-42F8-4CFB-92B8-B4ECD42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AD06B-251D-40E7-BFF0-C450F187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Ganhos e contrapartidas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66C0B-F2A8-41C5-9288-1D9C295D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1E538-B947-48BB-A070-EFBCBC65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7C315-BD59-46DD-8DE0-5A740568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GANHOS OBSERVADOS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63773-6DC2-4409-BFF7-FD461A83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LIMITES E CUSTOS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0F2A1-B749-4AF9-80F5-B73C581D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Coleta continua sem internet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7EFD8-FE58-4DF7-8733-C2FA12FE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 fog coordena a operação local.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C5F9A-D3CD-4789-BCE3-66A7B1D5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8605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Histórico remoto chega depois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EF1F5F-1565-4795-9169-A2E89C0F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As leituras esperam na fila em disco.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B2B5F-28F1-4D92-A75D-76104FD1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Reenvio sem duplicar histórico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141E13-584F-43F9-82B9-B9C885CA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mesmo ID identifica a leitura.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0C3BC-C59C-4406-A1B5-96392D00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8150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Mais armazenamento e mensagens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85C56-0E9E-4A83-A872-C14F6BF7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720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Fila, confirmações e reenvios usam recursos.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3983E-AF05-49DA-8B25-9E92343F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Se a fog parar, novas decisões também param.</a:t>
            </a:r>
          </a:p>
        </p:txBody>
      </p:sp>
    </p:spTree>
    <p:extLst>
      <p:ext uri="{BB962C8B-B14F-4D97-AF65-F5344CB8AC3E}">
        <p14:creationId xmlns:p14="http://schemas.microsoft.com/office/powerpoint/2010/main" val="18627748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78D59-4B1E-4FF5-A0F8-6BCC61F48A71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3790950"/>
            <a:ext cx="0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2C467-0B88-44D3-A79C-08B9C4666AD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6200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58FCC-93BD-40FF-8F86-7255720B261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6576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131DC-2EFA-4EA2-97FA-D8254BAE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7C8CF-DDD8-402F-A8BC-8530F073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Quem faz o quê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B5373-340F-423A-BA9D-4D790D37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37E5B-8B03-4C67-882F-E4C76E30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F3832-F4E5-438F-8A60-93E805ED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3FFEB-7BBD-4650-A393-20023564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Mede e executa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5EC4B-D2A4-4F27-8B94-8282F6C1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C066F-E619-47D0-B86E-B5FC898F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Decide localmente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B434F-C6DF-4CEA-A1BB-B195571A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D94F6-3049-4B6A-9B99-A321361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Guarda o histórico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812DC-EBFE-4894-A731-312FA99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DA94E-C40B-4D97-84E8-360F66B3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067300"/>
            <a:ext cx="2705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PAINEL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Mostra os dados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CCDCC-754B-447A-9308-58C77C0B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C3D39-5557-4072-91E6-C73AE78F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105AA-3FB8-4B57-A37C-3D78A001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053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Consulta local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E43DEE-A746-4409-A63E-3D0D1502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 = dispositivos. Fog = coordenação local. Nuvem = histórico remoto.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3FBA56-077E-4F47-8057-A6305155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 = mensagens. HTTPS = conexão protegida.</a:t>
            </a:r>
          </a:p>
        </p:txBody>
      </p:sp>
    </p:spTree>
    <p:extLst>
      <p:ext uri="{BB962C8B-B14F-4D97-AF65-F5344CB8AC3E}">
        <p14:creationId xmlns:p14="http://schemas.microsoft.com/office/powerpoint/2010/main" val="4810227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02224-C7AD-410D-99F8-A1D36432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1EAF0-8DBD-44B5-851E-392F1596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MQTT: troca de mensagens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EF156-8F08-4F1A-91B8-954B063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D6CF5-CAE4-4692-BCEE-0A16363D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836E9-9A76-4D09-9B60-E40DD5AA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MQTT = envio de mensagens entre programas.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02FCA-F4A4-47E9-AE24-74BE560A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Broker = central que encaminha as mensagens.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2EC38-88A8-45D9-92E5-AA6456A0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ACK = resposta que confirma recebimento ou aplicação.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B0A4A-B76B-485E-8D59-5A62AFC4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ID = identificador que ajuda a reconhecer uma mensagem repetida.</a:t>
            </a:r>
          </a:p>
        </p:txBody>
      </p:sp>
    </p:spTree>
    <p:extLst>
      <p:ext uri="{BB962C8B-B14F-4D97-AF65-F5344CB8AC3E}">
        <p14:creationId xmlns:p14="http://schemas.microsoft.com/office/powerpoint/2010/main" val="113787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FE118-867B-427E-A0F9-D7E032A7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8527F-2DEB-46B8-BE7B-0FF56018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Quando a internet falha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E226A-6FE6-4B88-A7A2-F47D9AD5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2FE25-8A44-49FE-BCB0-B7749553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4130289-157C-49CC-954B-7C9421E5F7D9}"/>
              </a:ext>
            </a:extLst>
          </p:cNvPr>
          <p:cNvGraphicFramePr/>
          <p:nvPr/>
        </p:nvGraphicFramePr>
        <p:xfrm>
          <a:off xmlns:a="http://schemas.openxmlformats.org/drawingml/2006/main" x="609600" y="3524250"/>
          <a:ext xmlns:a="http://schemas.openxmlformats.org/drawingml/2006/main" cx="10972800" cy="2000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001bf761394db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AEF52-1314-48C7-A555-95152539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Condição: computador, broker e rede local continuam funcionando.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D200A-5803-47E5-A289-35334DCE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1. Sem internet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3E3C2-0019-447E-8C7B-61E97830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 mede e executa.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 decide e guarda a fila.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4124C-F615-4D49-8B20-02D4E09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2. Enquanto espera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6A2DD-488F-45CF-A050-1E918A6A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 local continua.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 fica desatualizada.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9297C8-D3B7-45D3-AD3E-5471E92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3. Após reconectar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FDB9A-3552-48AE-B6A7-B1C5CA52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 reenvia em lotes.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 confirma os IDs.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4F4EE7-CEEE-4842-A665-F3F99DD0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Teste local: quantidade de leituras pendentes. s = segundos reais.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8BD26-49E4-434B-A072-ADCB2F9E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Fila = leituras aguardando envio. Lote = grupo de leituras enviado junto.</a:t>
            </a:r>
          </a:p>
          <a:p xmlns:a="http://schemas.openxmlformats.org/drawingml/2006/main">
            <a: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Atraso no histórico remoto não comprova perda de dados.</a:t>
            </a:r>
          </a:p>
        </p:txBody>
      </p:sp>
    </p:spTree>
    <p:extLst>
      <p:ext uri="{BB962C8B-B14F-4D97-AF65-F5344CB8AC3E}">
        <p14:creationId xmlns:p14="http://schemas.microsoft.com/office/powerpoint/2010/main" val="18920678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623AD-C0C4-42C1-A568-005DBDDC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E3EA8-7D90-4732-ABCF-B967B8B8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Teste de versão em poucos sensores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B257D-7A2B-4A27-ACA3-36216BF5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6247B-B0BD-4BF3-8A0C-168071E5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923F7FF-8472-4B08-B931-5A694521DD5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29a5adf6cf49b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74F34-F199-4B8A-96F6-F52D3D76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Canário = 5 testam. Controle = 27 mantêm a versão anterior.</a:t>
            </a:r>
          </a:p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Rollback = voltar à versão anterior após falha.</a:t>
            </a:r>
          </a:p>
        </p:txBody>
      </p:sp>
    </p:spTree>
    <p:extLst>
      <p:ext uri="{BB962C8B-B14F-4D97-AF65-F5344CB8AC3E}">
        <p14:creationId xmlns:p14="http://schemas.microsoft.com/office/powerpoint/2010/main" val="17283089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9006E-9B20-4C2B-A335-252153F9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F6D04-6954-4E5A-BB7A-4FD8A80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Recuperação: ganho e atraso observado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40778-93C1-446C-96BF-AC0A5C5C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EAFD2-0E31-49B2-A0D1-903261FE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045AD-BDF2-41DC-9E6E-4ADF2104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Teste remoto de 19/10: ponto observado após reconectar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1BDFEFD2-BD8F-4D05-A54B-B446C6DD2ED7}"/>
              </a:ext>
            </a:extLst>
          </p:cNvPr>
          <p:cNvGraphicFramePr/>
          <p:nvPr/>
        </p:nvGraphicFramePr>
        <p:xfrm>
          <a:off xmlns:a="http://schemas.openxmlformats.org/drawingml/2006/main" x="609600" y="22669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aa6cc1ee34da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4E5E5-4EFD-46F7-A5A9-3DE3EA93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98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GANHO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65C797-5557-495A-9964-9DF6DEC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128 leituras já tinham</a:t>
            </a:r>
          </a:p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confirmação da nuvem.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A6AA1-1D81-46A2-9B3A-84C14A6E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ATRASO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9CCA8E-06B7-4F55-9D08-2123D89F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32 ainda aguardavam envio.</a:t>
            </a:r>
          </a:p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Pendente não significa perdido.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7616E-37ED-4257-B276-45A694CC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Supabase = serviço na internet. Postgres = banco de dados.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HTTPS = conexão protegida. Hospedagem: São Paulo, plano Free.</a:t>
            </a:r>
          </a:p>
        </p:txBody>
      </p:sp>
    </p:spTree>
    <p:extLst>
      <p:ext uri="{BB962C8B-B14F-4D97-AF65-F5344CB8AC3E}">
        <p14:creationId xmlns:p14="http://schemas.microsoft.com/office/powerpoint/2010/main" val="1314680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6927A-F878-4260-951F-A70CBE0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273D5-2715-48A9-8758-D6F01E19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Como saber se a mudança funcionou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6B5C8-367F-45AF-80D5-2C71DEF2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181F5-BB4C-49AD-9FDA-12D84F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EE5EB-328E-4D61-BD2D-150BF9E6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Sem resposta após 15 s: aviso para verificar a conexão MQTT.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DF4DC-EFEE-4E68-A013-FDC033F6D878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Momento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aparece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Ao clicar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Comando enviado, aguardando a edge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Após o ACK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Confirmação ou motivo da rejeição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Após nova leitura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observado com a alteração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35579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FFF03-CBE4-44CF-9C19-70E3F9A0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42BDC-5240-4302-B969-29C53AAD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que aparece no PDF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B28E1-024B-4003-BD65-81BEC89D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677D4-F3FF-4B19-9F13-9E66185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51D25-98A3-43D4-8F37-9023E3E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Antes = estado inicial. Depois = amostra após pelo menos 10 segundos.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29B23-8DF3-4B23-9AEF-48F89C6C62F9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Informação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Para que serve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Mensagens e envios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Verificar a comunicação e a nuvem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Fila de dados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Acompanhar a queda e a recuperação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 e depois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Comparar os efeitos das mudanças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7557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542D6-B5BC-4A98-8D42-FE6BAEB9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6AB58-3225-4B8D-A4A2-4CFD7C69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Projeto e materiais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FA7C7-2FCB-4AB1-AF8D-29ED0D05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AC300-51CD-49B2-8D2A-21AC3958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75768-27B7-4F9D-A174-28712E3C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FABE8-9E9A-4325-8E0C-23CABDFF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b024f856ac454544"/>
              </a:rPr>
              <a:t>https://github.com/annygabb/IoT---Coleta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2BC56-1FAF-4E3C-81C9-AD9368E3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32 lixeiras e 3 caminhões virtuais.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60 testes Python e 28 JavaScript aprovados.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Novos sensores testados com MQTT e nuvem local.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9E5DB-A7EA-4B81-B312-AFFCA618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GitHub: código distribuído e documentação pública atualizados.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E5400-04D8-4517-9129-D6840FB4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Supabase: novos sensores aguardam atualização na nuvem.</a:t>
            </a:r>
          </a:p>
        </p:txBody>
      </p:sp>
    </p:spTree>
    <p:extLst>
      <p:ext uri="{BB962C8B-B14F-4D97-AF65-F5344CB8AC3E}">
        <p14:creationId xmlns:p14="http://schemas.microsoft.com/office/powerpoint/2010/main" val="16198364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2AB3C-D7F7-4BC2-A034-5AADF60C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099F9-C85B-44A9-AF70-99CEFEFD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Um formato comum para cada leitura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373B7-C051-4F05-98DA-0AFE5CB8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B53E4F-5338-4177-9E3A-C7500092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674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DCEC3-82BB-4949-9079-BF905BB1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Contrato canônico = campos iguais para sensores diferentes.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8E443-0F52-4F82-87C1-D8615385E531}"/>
              </a:ext>
            </a:extLst>
          </p:cNvPr>
          <p:cNvGraphicFramePr/>
          <p:nvPr/>
        </p:nvGraphicFramePr>
        <p:xfrm>
          <a:off xmlns:a="http://schemas.openxmlformats.org/drawingml/2006/main" x="609600" y="220980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810125"/>
                <a:gridCol w="3733800"/>
              </a:tblGrid>
              <a:tr h="628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Campo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significa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Exemplo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Dispositivo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Quem enviou a leitura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solo-01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Timestamp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Quando a medição ocorreu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20/10, 12h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Medidas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Grandeza, valor e unidade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Umidade: 23,5%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UUID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ID único da mensagem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Mesmo ID ao reenviar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8B731-4521-4395-B4DE-5806C427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O adaptador traduz o formato antigo. O painel e as rotas continuam.</a:t>
            </a:r>
          </a:p>
        </p:txBody>
      </p:sp>
    </p:spTree>
    <p:extLst>
      <p:ext uri="{BB962C8B-B14F-4D97-AF65-F5344CB8AC3E}">
        <p14:creationId xmlns:p14="http://schemas.microsoft.com/office/powerpoint/2010/main" val="17247334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A042E7-FF20-4254-BF92-29F6CCAC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1328C-D79E-4EE4-A05E-54E48B43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Catálogo de sensores por configuração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376D1-6738-401E-9FD8-188A21E0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ED707-DFBA-4D73-8059-7CF28659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674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CEAF6-5E82-4BA0-B20C-FE42072E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Perfil = medidas esperadas, unidades, faixas e intervalo de envio.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BCA77-D45D-4FA9-AB35-4A7A30655753}"/>
              </a:ext>
            </a:extLst>
          </p:cNvPr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28875"/>
                <a:gridCol w="4286250"/>
                <a:gridCol w="4257675"/>
              </a:tblGrid>
              <a:tr h="5715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Cadastro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Coleta urbana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Exemplo rural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Domínio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Resíduos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Agricultura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Perfil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Lixeira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Solo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Dispositivo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sensor-BIN-01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solo-01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Medida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Enchimento (%)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Umidade do solo (%)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A0BB9-E95A-493B-B08D-EA5FDC42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 API cadastra o novo sensor sem alterar o motor de coleta.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397D4-A99C-4569-A34D-F1C6EA3C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API = interface para outros programas. Os cadastros ficam no banco local.</a:t>
            </a:r>
          </a:p>
        </p:txBody>
      </p:sp>
    </p:spTree>
    <p:extLst>
      <p:ext uri="{BB962C8B-B14F-4D97-AF65-F5344CB8AC3E}">
        <p14:creationId xmlns:p14="http://schemas.microsoft.com/office/powerpoint/2010/main" val="12953964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C2A8F-6ACB-43F8-B111-2696991C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57E1A9-8189-4615-993C-06CDAB20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Um erro não bloqueia o lote inteiro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A7DCF-2F86-4827-B7B8-2AC7E440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62E65-5F87-4265-8CA6-95261EE6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674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DD651-6C28-4CF5-83AA-2405A815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Teste automatizado local com 5.000 mensagens sintéticas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8592004-5F57-412E-BA4C-0CFF6C16DAF9}"/>
              </a:ext>
            </a:extLst>
          </p:cNvPr>
          <p:cNvGraphicFramePr/>
          <p:nvPr/>
        </p:nvGraphicFramePr>
        <p:xfrm>
          <a:off xmlns:a="http://schemas.openxmlformats.org/drawingml/2006/main" x="609600" y="2333625"/>
          <a:ext xmlns:a="http://schemas.openxmlformats.org/drawingml/2006/main" cx="695325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89cc3dd2344a1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6EAEF-1835-4C88-807C-D76469DF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88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4.997 aceitas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AB938-DE20-4782-AE52-97DA82AD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3372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histórico recebe os dados válidos.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8443F-F1DD-445C-8A27-31016F13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43375"/>
            <a:ext cx="333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3 isoladas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6D3B-8B9B-449D-BA45-C6A6B9B2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291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 quarentena conserva o motivo de cada erro.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869B3B-8A7A-417A-9B88-C5921EC9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Quarentena = dados recusados para análise. Não confirma entrega à nuvem.</a:t>
            </a:r>
          </a:p>
        </p:txBody>
      </p:sp>
    </p:spTree>
    <p:extLst>
      <p:ext uri="{BB962C8B-B14F-4D97-AF65-F5344CB8AC3E}">
        <p14:creationId xmlns:p14="http://schemas.microsoft.com/office/powerpoint/2010/main" val="17218149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7247C-0875-49A6-A43E-A444E473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32D4A-DFF8-42C0-814A-C02187AE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Dados atrasados no lugar certo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C22FE-936D-49A6-8E01-0B59B80F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Arthur, Eduardo e Jéssica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1D93D-8F4A-415C-85F2-91E7A9DA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6747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FDF1C-B260-4D0E-B76B-8DB17EEC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5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Exemplo didático: a ordem de chegada pode ser diferente da medição.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9B134-2537-438A-A464-2C8B1DD1E911}"/>
              </a:ext>
            </a:extLst>
          </p:cNvPr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109728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619500"/>
                <a:gridCol w="5067300"/>
              </a:tblGrid>
              <a:tr h="714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Chegada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Horário da medição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Tratamento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Primeiro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20/10, 12h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atual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Depois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18/10, 12h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Histórico de dois dias atrás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AB3A2-8B9C-4D61-9A76-FAEFF1B1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O dado antigo completa a série sem substituir o estado mais novo.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AB2F7-6BC4-4637-B775-E7C22B78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Após reinício, a edge também informa o horário real do estado.</a:t>
            </a:r>
          </a:p>
        </p:txBody>
      </p:sp>
    </p:spTree>
    <p:extLst>
      <p:ext uri="{BB962C8B-B14F-4D97-AF65-F5344CB8AC3E}">
        <p14:creationId xmlns:p14="http://schemas.microsoft.com/office/powerpoint/2010/main" val="10913479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2026-10-20T13:41:03.0990000Z</dcterms:created>
  <dcterms:modified xsi:type="dcterms:W3CDTF">2026-10-20T13:41:03.0990000Z</dcterms:modified>
</coreProperties>
</file>