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66995b754248d7" /><Relationship Type="http://schemas.openxmlformats.org/officeDocument/2006/relationships/extended-properties" Target="/docProps/app.xml" Id="R10c73353dd4a43ae" /><Relationship Type="http://schemas.openxmlformats.org/officeDocument/2006/relationships/officeDocument" Target="/ppt/presentation.xml" Id="R14d7799cfe9a40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4c04056a1a438c"/>
  </p:sldMasterIdLst>
  <p:notesMasterIdLst>
    <p:notesMasterId xmlns:r="http://schemas.openxmlformats.org/officeDocument/2006/relationships" r:id="R24bf6aa07acf4a69"/>
  </p:notesMasterIdLst>
  <p:sldIdLst>
    <p:sldId xmlns:r="http://schemas.openxmlformats.org/officeDocument/2006/relationships" id="256" r:id="R5400950d8d3d429a"/>
    <p:sldId xmlns:r="http://schemas.openxmlformats.org/officeDocument/2006/relationships" id="257" r:id="Re4a628af09d4414c"/>
    <p:sldId xmlns:r="http://schemas.openxmlformats.org/officeDocument/2006/relationships" id="258" r:id="R47504799dd8b4bf3"/>
    <p:sldId xmlns:r="http://schemas.openxmlformats.org/officeDocument/2006/relationships" id="259" r:id="Rcdee10ea418d4c1d"/>
    <p:sldId xmlns:r="http://schemas.openxmlformats.org/officeDocument/2006/relationships" id="260" r:id="Ra5ad5ad5582e459f"/>
    <p:sldId xmlns:r="http://schemas.openxmlformats.org/officeDocument/2006/relationships" id="261" r:id="R3777a3c71d324160"/>
    <p:sldId xmlns:r="http://schemas.openxmlformats.org/officeDocument/2006/relationships" id="262" r:id="R23b76e84a1334d84"/>
    <p:sldId xmlns:r="http://schemas.openxmlformats.org/officeDocument/2006/relationships" id="263" r:id="Rd0f4a25d3a7c4a11"/>
    <p:sldId xmlns:r="http://schemas.openxmlformats.org/officeDocument/2006/relationships" id="264" r:id="R86c0c9553dfd4440"/>
    <p:sldId xmlns:r="http://schemas.openxmlformats.org/officeDocument/2006/relationships" id="265" r:id="R9ae6c5980c8342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6abeeb7ba4bd6" /><Relationship Type="http://schemas.openxmlformats.org/officeDocument/2006/relationships/slideMaster" Target="/ppt/slideMasters/slideMaster1.xml" Id="R274c04056a1a438c" /><Relationship Type="http://schemas.openxmlformats.org/officeDocument/2006/relationships/notesMaster" Target="/ppt/notesMasters/notesMaster1.xml" Id="R24bf6aa07acf4a69" /><Relationship Type="http://schemas.openxmlformats.org/officeDocument/2006/relationships/presProps" Target="/ppt/presProps.xml" Id="R98e488dd5fc9458f" /><Relationship Type="http://schemas.openxmlformats.org/officeDocument/2006/relationships/tableStyles" Target="/ppt/tableStyles.xml" Id="R8a97de75f84b4bb9" /><Relationship Type="http://schemas.openxmlformats.org/officeDocument/2006/relationships/slide" Target="/ppt/slides/slide1.xml" Id="R5400950d8d3d429a" /><Relationship Type="http://schemas.openxmlformats.org/officeDocument/2006/relationships/slide" Target="/ppt/slides/slide2.xml" Id="Re4a628af09d4414c" /><Relationship Type="http://schemas.openxmlformats.org/officeDocument/2006/relationships/slide" Target="/ppt/slides/slide3.xml" Id="R47504799dd8b4bf3" /><Relationship Type="http://schemas.openxmlformats.org/officeDocument/2006/relationships/slide" Target="/ppt/slides/slide4.xml" Id="Rcdee10ea418d4c1d" /><Relationship Type="http://schemas.openxmlformats.org/officeDocument/2006/relationships/slide" Target="/ppt/slides/slide5.xml" Id="Ra5ad5ad5582e459f" /><Relationship Type="http://schemas.openxmlformats.org/officeDocument/2006/relationships/slide" Target="/ppt/slides/slide6.xml" Id="R3777a3c71d324160" /><Relationship Type="http://schemas.openxmlformats.org/officeDocument/2006/relationships/slide" Target="/ppt/slides/slide7.xml" Id="R23b76e84a1334d84" /><Relationship Type="http://schemas.openxmlformats.org/officeDocument/2006/relationships/slide" Target="/ppt/slides/slide8.xml" Id="Rd0f4a25d3a7c4a11" /><Relationship Type="http://schemas.openxmlformats.org/officeDocument/2006/relationships/slide" Target="/ppt/slides/slide9.xml" Id="R86c0c9553dfd4440" /><Relationship Type="http://schemas.openxmlformats.org/officeDocument/2006/relationships/slide" Target="/ppt/slides/slide10.xml" Id="R9ae6c5980c83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9979223b024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ac1b788894dc9" /><Relationship Type="http://schemas.openxmlformats.org/officeDocument/2006/relationships/notesMaster" Target="/ppt/notesMasters/notesMaster1.xml" Id="Rcda22a173b2e4d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199d04c14f45bc" /><Relationship Type="http://schemas.openxmlformats.org/officeDocument/2006/relationships/notesMaster" Target="/ppt/notesMasters/notesMaster1.xml" Id="Rb4b0e92973de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f0f978e8534f12" /><Relationship Type="http://schemas.openxmlformats.org/officeDocument/2006/relationships/notesMaster" Target="/ppt/notesMasters/notesMaster1.xml" Id="R8b9deba40eac44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d3434e38fa4246" /><Relationship Type="http://schemas.openxmlformats.org/officeDocument/2006/relationships/notesMaster" Target="/ppt/notesMasters/notesMaster1.xml" Id="R38e0582bae284f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1fadd9a2714751" /><Relationship Type="http://schemas.openxmlformats.org/officeDocument/2006/relationships/notesMaster" Target="/ppt/notesMasters/notesMaster1.xml" Id="Rfe73a5648a3c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327bb95d42409e" /><Relationship Type="http://schemas.openxmlformats.org/officeDocument/2006/relationships/notesMaster" Target="/ppt/notesMasters/notesMaster1.xml" Id="R54d3b3fb06e141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0e30a7acd34678" /><Relationship Type="http://schemas.openxmlformats.org/officeDocument/2006/relationships/notesMaster" Target="/ppt/notesMasters/notesMaster1.xml" Id="R9d48b075226c42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2094576b014b77" /><Relationship Type="http://schemas.openxmlformats.org/officeDocument/2006/relationships/notesMaster" Target="/ppt/notesMasters/notesMaster1.xml" Id="R50a9c1ff21ab48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3ca80b989047bf" /><Relationship Type="http://schemas.openxmlformats.org/officeDocument/2006/relationships/notesMaster" Target="/ppt/notesMasters/notesMaster1.xml" Id="R8c936b2f541a45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3d79bdfa594e98" /><Relationship Type="http://schemas.openxmlformats.org/officeDocument/2006/relationships/notesMaster" Target="/ppt/notesMasters/notesMaster1.xml" Id="R59d44f797f27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SmartWaste DF em 20 segundos. O grupo é Anny, Arthur e Eduardo. Sensores e caminhões são virtuais, mas a troca MQTT e a hospedagem do histórico são reais. O link abre o repositório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Antes, a comunicação acontecia em memória dentro do simulador. Na evolução, programas separados trocam mensagens e a nuvem recebe histórico. A principal razão é permitir que a falha da internet não interrompa a coordenação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Edge é a borda: sensores e atuadores. Atuador é quem executa uma ação, como o caminhão seguir uma rota. Fog é a coordenação próxima aos dispositivos. A nuvem mantém o histórico remoto. O painel consulta a fog. HTTP local é a comunicação do navegador com o serviço no próprio computador. HTTPS protege o envio à internet.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MQTT é o protocolo usado para enviar mensagens. Broker encaminha as publicações aos programas interessados. ACK significa confirmação. A confirmação do broker e a confirmação da aplicação são diferentes. Um ID estável permite reconhecer e deduplicar repetições. Deduplicar significa impedir que a mesma leitura entre duas vezes no histórico. O fluxo usa MQTT 3.1.1, QoS 1. QoS é o nível de garantia de entrega do protocolo. QoS 1 admite repetições.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Gráfico de teste local: eixo horizontal mostra instantes amostrados em segundos, e o vertical conta eventos pendentes. Quando a nuvem está desligada, as leituras aguardam na fila em disco. Reconectar libera novos envios. SQLite é o banco local que mantém essa fila. A queda da internet é diferente da queda da fog: encerrar a fog interrompe novas decisões. Fonte: docs/evidence-local/timeline.csv do pacote da atividade.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Canário é uma versão testada primeiro em poucos dispositivos. Cinco sensores testam e 27 ficam no controle. A versão com falha simula erros. Após pelo menos dez segundos e amostras mínimas, erro acima de 5% provoca rollback, ou seja, retorno à versão anterior. Firmware é o programa que funciona no sensor. Aqui a troca de versão é lógica: nenhuma placa física é atualizada.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nuvem usa Supabase Free em São Paulo. HTTPS é a conexão protegida de envio. Postgres é o banco que guarda as leituras. Free custa zero dentro das cotas. Em 19/10/2026 a página oficial indicava 500 MB de banco, 5 GB de saída e pausa por inatividade. Fonte: https://supabase.com/pricing. O painel continua local. A configuração privada permanece fora do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Enviar o comando não prova que ele funcionou. O painel acompanha o identificador do comando e espera o ACK da edge. Mostra confirmação ou rejeição. Após 15 segundos sem resposta, orienta verificar MQTT e o terminal. Uma nova leitura mostra o estado efetivo após o comando.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PDF inclui mensagens MQTT, envios para a nuvem, fila e ações. Registra antes, confirmação, primeira leitura compatível e outra leitura após pelo menos dez segundos. Fazer uma mudança por vez e esperar cerca de doze segundos ajuda a comparar. Mudanças sobrepostas recebem aviso, porque não é possível separar seus efeitos. O relatório só registra ações feitas após a atualização.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GitHub contém a versão original e a documentação pública da evolução. A versão distribuída testada está no pacote da atividade. A apresentação não expõe credenciais. Se houver tempo, desconectar a nuvem, observar a fila, reconectar e exportar o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f16d1091347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a13f6684d49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8da86c00f47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d26b02d6748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9da9b09d142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a8ac3609e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52929D-D46B-4C7F-9482-BC526A7D9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A0DBD8-EC2B-47B0-BC47-B55B7BC378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DFE26F-B624-4A18-87F7-65534D511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E30599-F817-4F6C-8F0F-5156CBC07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2DE53E-64A6-4E2B-9A80-4349BDCA85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CF450A-FF93-4DD9-A503-C5B42C01B2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E360AE-ACD8-48A0-98A7-B5D2543105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C733DD-C45F-4874-9E7C-690E366AE0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FDB5BA-7B95-4318-8DCF-E278DCBD4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A698A8-38E0-431F-BDB6-531B9F034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e59d9d6314f4d" /><Relationship Type="http://schemas.openxmlformats.org/officeDocument/2006/relationships/slideLayout" Target="/ppt/slideLayouts/slideLayout1.xml" Id="Rd9a7c9d821c347f7" /><Relationship Type="http://schemas.openxmlformats.org/officeDocument/2006/relationships/slideLayout" Target="/ppt/slideLayouts/slideLayout2.xml" Id="R77a9ae3962f248a3" /><Relationship Type="http://schemas.openxmlformats.org/officeDocument/2006/relationships/slideLayout" Target="/ppt/slideLayouts/slideLayout3.xml" Id="Rb592a3145c7b4445" /><Relationship Type="http://schemas.openxmlformats.org/officeDocument/2006/relationships/slideLayout" Target="/ppt/slideLayouts/slideLayout4.xml" Id="R4cfdefe324a0404b" /><Relationship Type="http://schemas.openxmlformats.org/officeDocument/2006/relationships/slideLayout" Target="/ppt/slideLayouts/slideLayout5.xml" Id="Re378aea786634c19" /><Relationship Type="http://schemas.openxmlformats.org/officeDocument/2006/relationships/slideLayout" Target="/ppt/slideLayouts/slideLayout6.xml" Id="Rec434be9c8f2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7c9d821c347f7"/>
    <p:sldLayoutId xmlns:r="http://schemas.openxmlformats.org/officeDocument/2006/relationships" id="2147483650" r:id="R77a9ae3962f248a3"/>
    <p:sldLayoutId xmlns:r="http://schemas.openxmlformats.org/officeDocument/2006/relationships" id="2147483651" r:id="Rb592a3145c7b4445"/>
    <p:sldLayoutId xmlns:r="http://schemas.openxmlformats.org/officeDocument/2006/relationships" id="2147483652" r:id="R4cfdefe324a0404b"/>
    <p:sldLayoutId xmlns:r="http://schemas.openxmlformats.org/officeDocument/2006/relationships" id="2147483653" r:id="Re378aea786634c19"/>
    <p:sldLayoutId xmlns:r="http://schemas.openxmlformats.org/officeDocument/2006/relationships" id="2147483654" r:id="Rec434be9c8f2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e4cc725d6456f" /><Relationship Type="http://schemas.openxmlformats.org/officeDocument/2006/relationships/hyperlink" Target="https://github.com/annygabb/IoT---Coleta" TargetMode="External" Id="Rff17e5946a6a4ea6" /><Relationship Type="http://schemas.openxmlformats.org/officeDocument/2006/relationships/notesSlide" Target="/ppt/notesSlides/notesSlide1.xml" Id="Re84e9363179746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3b78aa43b42df" /><Relationship Type="http://schemas.openxmlformats.org/officeDocument/2006/relationships/notesSlide" Target="/ppt/notesSlides/notesSlide2.xml" Id="R2b281e1d32024e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b3f7f69094a9c" /><Relationship Type="http://schemas.openxmlformats.org/officeDocument/2006/relationships/notesSlide" Target="/ppt/notesSlides/notesSlide3.xml" Id="R9a770ec619fb48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4402fece8a47f5" /><Relationship Type="http://schemas.openxmlformats.org/officeDocument/2006/relationships/notesSlide" Target="/ppt/notesSlides/notesSlide4.xml" Id="Rdb87ef26d88f43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fc3ff85744089" /><Relationship Type="http://schemas.openxmlformats.org/officeDocument/2006/relationships/chart" Target="/ppt/slides/charts/chart1.xml" Id="Re809b58af1474920" /><Relationship Type="http://schemas.openxmlformats.org/officeDocument/2006/relationships/notesSlide" Target="/ppt/notesSlides/notesSlide5.xml" Id="R666b56d0c9e745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0e6c93aa844cb" /><Relationship Type="http://schemas.openxmlformats.org/officeDocument/2006/relationships/chart" Target="/ppt/slides/charts/chart2.xml" Id="R396e9cc7b4f94870" /><Relationship Type="http://schemas.openxmlformats.org/officeDocument/2006/relationships/notesSlide" Target="/ppt/notesSlides/notesSlide6.xml" Id="Re782ffee1abd47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1bc06507a4b44" /><Relationship Type="http://schemas.openxmlformats.org/officeDocument/2006/relationships/notesSlide" Target="/ppt/notesSlides/notesSlide7.xml" Id="R87ba369d72d642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13cdf6718445e" /><Relationship Type="http://schemas.openxmlformats.org/officeDocument/2006/relationships/notesSlide" Target="/ppt/notesSlides/notesSlide8.xml" Id="R1b26c2e2c25342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d9421a00e43b6" /><Relationship Type="http://schemas.openxmlformats.org/officeDocument/2006/relationships/notesSlide" Target="/ppt/notesSlides/notesSlide9.xml" Id="Rd310503ac7db4a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012361b9341fa" /><Relationship Type="http://schemas.openxmlformats.org/officeDocument/2006/relationships/hyperlink" Target="https://github.com/annygabb/IoT---Coleta" TargetMode="External" Id="R9ae38e5c1f7742a3" /><Relationship Type="http://schemas.openxmlformats.org/officeDocument/2006/relationships/notesSlide" Target="/ppt/notesSlides/notesSlide10.xml" Id="R93634657e578469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Eventos pendentes</c:v>
          </c:tx>
          <c:spPr>
            <a:ln xmlns:a="http://schemas.openxmlformats.org/drawingml/2006/main" w="38100">
              <a:solidFill>
                <a:srgbClr val="167655"/>
              </a:solidFill>
              <a:prstDash val="solid"/>
            </a:ln>
          </c:spPr>
          <c:marker>
            <c:symbol val="none"/>
          </c:marker>
          <c:cat>
            <c:strRef>
              <c:f>'Chart Data'!$A$2:$A$11</c:f>
              <c:strCache>
                <c:ptCount val="10"/>
                <c:pt idx="0">
                  <c:v>2.4 s</c:v>
                </c:pt>
                <c:pt idx="1">
                  <c:v>2.4 s</c:v>
                </c:pt>
                <c:pt idx="2">
                  <c:v>3.4 s</c:v>
                </c:pt>
                <c:pt idx="3">
                  <c:v>4.4 s</c:v>
                </c:pt>
                <c:pt idx="4">
                  <c:v>5.4 s</c:v>
                </c:pt>
                <c:pt idx="5">
                  <c:v>6.4 s</c:v>
                </c:pt>
                <c:pt idx="6">
                  <c:v>7.4 s</c:v>
                </c:pt>
                <c:pt idx="7">
                  <c:v>8.4 s</c:v>
                </c:pt>
                <c:pt idx="8">
                  <c:v>11.5 s</c:v>
                </c:pt>
                <c:pt idx="9">
                  <c:v>21.8 s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32</c:v>
                </c:pt>
                <c:pt idx="1">
                  <c:v>32</c:v>
                </c:pt>
                <c:pt idx="2">
                  <c:v>64</c:v>
                </c:pt>
                <c:pt idx="3">
                  <c:v>96</c:v>
                </c:pt>
                <c:pt idx="4">
                  <c:v>96</c:v>
                </c:pt>
                <c:pt idx="5">
                  <c:v>128</c:v>
                </c:pt>
                <c:pt idx="6">
                  <c:v>160</c:v>
                </c:pt>
                <c:pt idx="7">
                  <c:v>192</c:v>
                </c:pt>
                <c:pt idx="8">
                  <c:v>0</c:v>
                </c:pt>
                <c:pt idx="9">
                  <c:v>32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5EF"/>
        </a:solidFill>
      </c:spPr>
    </c:plotArea>
    <c:plotVisOnly val="1"/>
  </c:chart>
  <c:spPr>
    <a:solidFill xmlns:a="http://schemas.openxmlformats.org/drawingml/2006/main">
      <a:srgbClr val="F5F5EF"/>
    </a:solidFill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Sensores</c:v>
          </c:tx>
          <c:spPr>
            <a:solidFill xmlns:a="http://schemas.openxmlformats.org/drawingml/2006/main">
              <a:srgbClr val="16765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Canário</c:v>
                </c:pt>
                <c:pt idx="1">
                  <c:v>Controle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</c:v>
                </c:pt>
                <c:pt idx="1">
                  <c:v>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5EF"/>
        </a:solidFill>
      </c:spPr>
    </c:plotArea>
    <c:plotVisOnly val="1"/>
  </c:chart>
  <c:spPr>
    <a:solidFill xmlns:a="http://schemas.openxmlformats.org/drawingml/2006/main">
      <a:srgbClr val="F5F5EF"/>
    </a:solidFill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5695B-1B18-417F-BC0F-3EFBBFA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ABBE-F246-47D4-B5A2-0F4E677A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SmartWaste 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10B3F-A075-4280-BF3A-92619E22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7E041-E0CC-400B-9EA9-9773ACF1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382DB-151A-49E4-832B-35EFB627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Edge, fog e nuvem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FF471-C38D-4D1F-874D-A249363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Sensores medem. O sistema decide. A nuvem guarda.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D8E50-BEF4-49F6-A381-B460F99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Engenharia de Software - Anny - Arthur - Eduardo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A0734-C29D-4674-AC8E-967912E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xmlns:r="http://schemas.openxmlformats.org/officeDocument/2006/relationships" r:id="Rff17e5946a6a4ea6"/>
              </a:rPr>
              <a:t>https://github.com/annygabb/IoT---Coleta</a:t>
            </a:r>
          </a:p>
        </p:txBody>
      </p:sp>
    </p:spTree>
    <p:extLst>
      <p:ext uri="{BB962C8B-B14F-4D97-AF65-F5344CB8AC3E}">
        <p14:creationId xmlns:p14="http://schemas.microsoft.com/office/powerpoint/2010/main" val="180398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8ADD7-42F8-4CFB-92B8-B4ECD42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AD06B-251D-40E7-BFF0-C450F187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O que mudou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66C0B-F2A8-41C5-9288-1D9C295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1E538-B947-48BB-A070-EFBCBC65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685EA-9AEF-4E2A-8CDF-5B57DCD1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Por quê: a coleta local continua quando a internet falha.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5DC12-4C75-41E0-B257-B1173E936F27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591050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Ponto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67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67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Agora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6765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Comunicação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Dentro de um programa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Mensagens entre programas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Junto da simulação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Coordenação local separada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Histórico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 envio à nuvem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Dados guardados na internet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774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1AF0B-B206-425C-86B6-957CA7D0F45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379095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655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9720C-3567-4641-AC2A-509783EADAA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20000" y="30575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655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20E0F-09BD-4EF4-8F70-EE7020148A5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57600" y="30575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655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131DC-2EFA-4EA2-97FA-D8254BAE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7C8CF-DDD8-402F-A8BC-8530F073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Quem faz o quê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B5373-340F-423A-BA9D-4D790D37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37E5B-8B03-4C67-882F-E4C76E30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F3832-F4E5-438F-8A60-93E805ED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04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3FFEB-7BBD-4650-A393-2002356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705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EDGE</a:t>
            </a:r>
          </a:p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Mede e executa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5EC4B-D2A4-4F27-8B94-8282F6C1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304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C066F-E619-47D0-B86E-B5FC898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14600"/>
            <a:ext cx="2705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FOG</a:t>
            </a:r>
          </a:p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Decide localmente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B434F-C6DF-4CEA-A1BB-B195571A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304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D94F6-3049-4B6A-9B99-A3213613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14600"/>
            <a:ext cx="2705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NUVEM</a:t>
            </a:r>
          </a:p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Guarda o histórico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812DC-EBFE-4894-A731-312FA990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6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DA94E-C40B-4D97-84E8-360F66B3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673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PAINEL</a:t>
            </a:r>
          </a:p>
          <a:p xmlns:a="http://schemas.openxmlformats.org/drawingml/2006/main">
            <a:pPr>
              <a:buNone/>
              <a:def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Mostra os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CCDCC-754B-447A-9308-58C77C0B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MQTT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C3D39-5557-4072-91E6-C73AE78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670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HTTPS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105AA-3FB8-4B57-A37C-3D78A00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05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Consulta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43DEE-A746-4409-A63E-3D0D1502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Edge = dispositivos. Fog = coordenação local. Nuvem = histórico remoto.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FBA56-077E-4F47-8057-A630515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MQTT = mensagens. HTTPS = conexão protegida.</a:t>
            </a:r>
          </a:p>
        </p:txBody>
      </p:sp>
    </p:spTree>
    <p:extLst>
      <p:ext uri="{BB962C8B-B14F-4D97-AF65-F5344CB8AC3E}">
        <p14:creationId xmlns:p14="http://schemas.microsoft.com/office/powerpoint/2010/main" val="481022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02224-C7AD-410D-99F8-A1D36432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1EAF0-8DBD-44B5-851E-392F159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MQTT: troca de mensagens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EF156-8F08-4F1A-91B8-954B063D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D6CF5-CAE4-4692-BCEE-0A16363D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36E9-9A76-4D09-9B60-E40DD5A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MQTT = envio de mensagens entre programas.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02FCA-F4A4-47E9-AE24-74BE560A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Broker = central que encaminha as mensagens.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2EC38-88A8-45D9-92E5-AA6456A0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ACK = resposta que confirma recebimento ou aplicação.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B0A4A-B76B-485E-8D59-5A62AFC4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ID = identificador que ajuda a reconhecer uma mensagem repetida.</a:t>
            </a:r>
          </a:p>
        </p:txBody>
      </p:sp>
    </p:spTree>
    <p:extLst>
      <p:ext uri="{BB962C8B-B14F-4D97-AF65-F5344CB8AC3E}">
        <p14:creationId xmlns:p14="http://schemas.microsoft.com/office/powerpoint/2010/main" val="113787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FE118-867B-427E-A0F9-D7E032A7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8527F-2DEB-46B8-BE7B-0FF56018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Quando a internet falha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E226A-6FE6-4B88-A7A2-F47D9AD5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2FE25-8A44-49FE-BCB0-B7749553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C50670D-DF93-4A0C-83AA-889C26F8AF7E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09b58af147492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19FF5-FE67-47C3-B43D-4983FA5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Fila = dados aguardando envio. Após reconectar, o envio continua.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C7C38-F48F-4700-82F6-8664AA6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Eventos pendentes (quantidade)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8C40E-FD23-42B5-9F93-736DED9C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53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s = segundos reais</a:t>
            </a:r>
          </a:p>
        </p:txBody>
      </p:sp>
    </p:spTree>
    <p:extLst>
      <p:ext uri="{BB962C8B-B14F-4D97-AF65-F5344CB8AC3E}">
        <p14:creationId xmlns:p14="http://schemas.microsoft.com/office/powerpoint/2010/main" val="1892067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623AD-C0C4-42C1-A568-005DBDDC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E3EA8-7D90-4732-ABCF-B967B8B8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Teste de versão em poucos sensores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B257D-7A2B-4A27-ACA3-36216BF5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6247B-B0BD-4BF3-8A0C-168071E5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FEFCA01-DFEE-41AA-9D12-66A6FE505C24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6e9cc7b4f9487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74F34-F199-4B8A-96F6-F52D3D76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Canário = 5 testam. Controle = 27 mantêm a versão anterior.</a:t>
            </a:r>
          </a:p>
          <a:p xmlns:a="http://schemas.openxmlformats.org/drawingml/2006/main">
            <a: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Rollback = voltar à versão anterior após falha.</a:t>
            </a:r>
          </a:p>
        </p:txBody>
      </p:sp>
    </p:spTree>
    <p:extLst>
      <p:ext uri="{BB962C8B-B14F-4D97-AF65-F5344CB8AC3E}">
        <p14:creationId xmlns:p14="http://schemas.microsoft.com/office/powerpoint/2010/main" val="17283089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9006E-9B20-4C2B-A335-252153F9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F6D04-6954-4E5A-BB7A-4FD8A80F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Histórico na nuvem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40778-93C1-446C-96BF-AC0A5C5C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EAFD2-0E31-49B2-A0D1-903261FE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46CC1-048A-4DB9-AFDC-67C315C0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Supabase = serviço que guarda os dados na internet.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19A31-D713-4F2D-AF56-0B597A17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HTTPS = conexão protegida para enviar os dados.</a:t>
            </a:r>
          </a:p>
          <a:p xmlns:a="http://schemas.openxmlformats.org/drawingml/2006/main">
            <a: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Postgres = banco de dados que guarda as leituras.</a:t>
            </a:r>
          </a:p>
          <a:p xmlns:a="http://schemas.openxmlformats.org/drawingml/2006/main">
            <a: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O projeto usa o plano Free em São Paulo.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D044C-7E5C-40BD-8B26-611B35DC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Free = gratuito dentro das cotas do serviço.</a:t>
            </a:r>
          </a:p>
        </p:txBody>
      </p:sp>
    </p:spTree>
    <p:extLst>
      <p:ext uri="{BB962C8B-B14F-4D97-AF65-F5344CB8AC3E}">
        <p14:creationId xmlns:p14="http://schemas.microsoft.com/office/powerpoint/2010/main" val="1314680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6927A-F878-4260-951F-A70CBE06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273D5-2715-48A9-8758-D6F01E1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Como saber se a mudança funcionou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6B5C8-367F-45AF-80D5-2C71DEF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181F5-BB4C-49AD-9FDA-12D84F8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EE5EB-328E-4D61-BD2D-150BF9E6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Sem resposta após 15 s: aviso para verificar a conexão MQTT.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125E3-BFD3-44E8-AFCC-4BB84309229B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Momento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67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que aparece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6765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Ao clicar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Comando enviado, aguardando a edge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Após o 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Confirmação ou motivo da rejeição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Após nova leitura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observado com a alteração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557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FFF03-CBE4-44CF-9C19-70E3F9A0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42BDC-5240-4302-B969-29C53AAD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O que aparece no PDF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B28E1-024B-4003-BD65-81BEC89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677D4-F3FF-4B19-9F13-9E661851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51D25-98A3-43D4-8F37-9023E3E6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Antes = estado inicial. Depois = amostra após pelo menos 10 segundos.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2D2FB-0F66-465C-A52D-C24E71DB91C7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Informação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67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Para que serve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6765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Mensagens e envios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Verificar a comunicação e a nuvem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Fila de dados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Acompanhar a queda e a recuperação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 e depois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Comparar os efeitos das mudanças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755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542D6-B5BC-4A98-8D42-FE6BAEB9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SMARTWASTE DF  /  ENGENHARIA DE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6AB58-3225-4B8D-A4A2-4CFD7C69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Projeto e materiais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A7C7-2FCB-4AB1-AF8D-29ED0D0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AC300-51CD-49B2-8D2A-21AC395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75768-27B7-4F9D-A174-28712E3C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67655"/>
                </a:solidFill>
                <a:latin typeface="DejaVu Sans"/>
                <a:ea typeface="DejaVu Sans"/>
                <a:cs typeface="DejaVu Sans"/>
              </a:rPr>
              <a:t>Anny, Arthur e Eduardo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ABE8-9E9A-4325-8E0C-23CABDFF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67655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hlinkClick xmlns:r="http://schemas.openxmlformats.org/officeDocument/2006/relationships" r:id="R9ae38e5c1f7742a3"/>
              </a:rPr>
              <a:t>https://github.com/annygabb/IoT---Coleta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2BC56-1FAF-4E3C-81C9-AD9368E3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32 lixeiras e 3 caminhões virtuais.</a:t>
            </a:r>
          </a:p>
          <a:p xmlns:a="http://schemas.openxmlformats.org/drawingml/2006/main">
            <a: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Comunicação MQTT real e histórico no Supabase.</a:t>
            </a:r>
          </a:p>
          <a:p xmlns:a="http://schemas.openxmlformats.org/drawingml/2006/main">
            <a:pPr>
              <a:buNone/>
              <a:def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B30"/>
                </a:solidFill>
                <a:latin typeface="DejaVu Sans"/>
                <a:ea typeface="DejaVu Sans"/>
                <a:cs typeface="DejaVu Sans"/>
              </a:rPr>
              <a:t>Relatório com as mudanças e os resultados dos testes.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9E5DB-A7EA-4B81-B312-AFFCA618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F736B"/>
                </a:solidFill>
                <a:latin typeface="DejaVu Sans"/>
                <a:ea typeface="DejaVu Sans"/>
                <a:cs typeface="DejaVu Sans"/>
              </a:rPr>
              <a:t>GitHub: código original e documentação. Versão distribuída: pacote da atividade.</a:t>
            </a:r>
          </a:p>
        </p:txBody>
      </p:sp>
    </p:spTree>
    <p:extLst>
      <p:ext uri="{BB962C8B-B14F-4D97-AF65-F5344CB8AC3E}">
        <p14:creationId xmlns:p14="http://schemas.microsoft.com/office/powerpoint/2010/main" val="1619836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2026-10-19T17:13:42.2260000Z</dcterms:created>
  <dcterms:modified xsi:type="dcterms:W3CDTF">2026-10-19T17:13:42.2260000Z</dcterms:modified>
</coreProperties>
</file>