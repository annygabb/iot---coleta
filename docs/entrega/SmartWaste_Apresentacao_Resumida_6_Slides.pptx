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>
      <a:defRPr lang="pt-B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martWaste"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000"/>
      </a:lvl1pPr>
    </p:titleStyle>
    <p:bodyStyle>
      <a:lvl1pPr>
        <a:defRPr sz="1700"/>
      </a:lvl1pPr>
    </p:bodyStyle>
    <p:otherStyle>
      <a:defPPr>
        <a:defRPr sz="1700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nnygabb/IoT---Cole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Coleta inteligente, do sensor à nuvem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Uma evolução do laboratório: decisões locais e histórico remoto.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1/6</a:t>
            </a:r>
            <a:endParaRPr lang="pt-BR" sz="1000"/>
          </a:p>
        </p:txBody>
      </p:sp>
      <p:sp>
        <p:nvSpPr>
          <p:cNvPr id="8" name="Bloco 8"/>
          <p:cNvSpPr/>
          <p:nvPr/>
        </p:nvSpPr>
        <p:spPr>
          <a:xfrm>
            <a:off x="533400" y="2032000"/>
            <a:ext cx="5461000" cy="2679700"/>
          </a:xfrm>
          <a:prstGeom prst="roundRect">
            <a:avLst/>
          </a:prstGeom>
          <a:solidFill>
            <a:srgbClr val="183B30"/>
          </a:solidFill>
          <a:ln w="9525"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812800" y="2273300"/>
            <a:ext cx="48641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400" b="1">
                <a:solidFill>
                  <a:srgbClr val="FFFFFF"/>
                </a:solidFill>
                <a:latin typeface="Aptos"/>
              </a:rPr>
              <a:t>32 lixeiras</a:t>
            </a:r>
            <a:endParaRPr lang="pt-BR" sz="3400"/>
          </a:p>
        </p:txBody>
      </p:sp>
      <p:sp>
        <p:nvSpPr>
          <p:cNvPr id="10" name="Texto 10"/>
          <p:cNvSpPr txBox="1"/>
          <p:nvPr/>
        </p:nvSpPr>
        <p:spPr>
          <a:xfrm>
            <a:off x="812800" y="2895600"/>
            <a:ext cx="48641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300" b="1">
                <a:solidFill>
                  <a:srgbClr val="FFFFFF"/>
                </a:solidFill>
                <a:latin typeface="Aptos"/>
              </a:rPr>
              <a:t>3 caminhões virtuais</a:t>
            </a:r>
            <a:endParaRPr lang="pt-BR" sz="2300"/>
          </a:p>
        </p:txBody>
      </p:sp>
      <p:sp>
        <p:nvSpPr>
          <p:cNvPr id="11" name="Texto 11"/>
          <p:cNvSpPr txBox="1"/>
          <p:nvPr/>
        </p:nvSpPr>
        <p:spPr>
          <a:xfrm>
            <a:off x="812800" y="3543300"/>
            <a:ext cx="48641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E5EDE5"/>
                </a:solidFill>
                <a:latin typeface="Aptos"/>
              </a:rPr>
              <a:t>IoT = dispositivos que trocam dados.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E5EDE5"/>
                </a:solidFill>
                <a:latin typeface="Aptos"/>
              </a:rPr>
              <a:t>Aqui, sensores e veículos são simulados.</a:t>
            </a:r>
            <a:endParaRPr lang="pt-BR" sz="1600"/>
          </a:p>
        </p:txBody>
      </p:sp>
      <p:sp>
        <p:nvSpPr>
          <p:cNvPr id="12" name="Bloco 12"/>
          <p:cNvSpPr/>
          <p:nvPr/>
        </p:nvSpPr>
        <p:spPr>
          <a:xfrm>
            <a:off x="6223000" y="2032000"/>
            <a:ext cx="5435600" cy="2679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3" name="Texto 13"/>
          <p:cNvSpPr txBox="1"/>
          <p:nvPr/>
        </p:nvSpPr>
        <p:spPr>
          <a:xfrm>
            <a:off x="6451600" y="2247900"/>
            <a:ext cx="4978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O que mudou?</a:t>
            </a:r>
            <a:endParaRPr lang="pt-BR" sz="2000"/>
          </a:p>
        </p:txBody>
      </p:sp>
      <p:sp>
        <p:nvSpPr>
          <p:cNvPr id="14" name="Texto 14"/>
          <p:cNvSpPr txBox="1"/>
          <p:nvPr/>
        </p:nvSpPr>
        <p:spPr>
          <a:xfrm>
            <a:off x="6451600" y="2781300"/>
            <a:ext cx="4978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 coleta passou a usar mensagens reais,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dados guardados localmente e envio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posterior para a nuvem.</a:t>
            </a:r>
            <a:endParaRPr lang="pt-BR" sz="1600"/>
          </a:p>
        </p:txBody>
      </p:sp>
      <p:sp>
        <p:nvSpPr>
          <p:cNvPr id="15" name="Bloco 15"/>
          <p:cNvSpPr/>
          <p:nvPr/>
        </p:nvSpPr>
        <p:spPr>
          <a:xfrm>
            <a:off x="533400" y="4965700"/>
            <a:ext cx="11125200" cy="889000"/>
          </a:xfrm>
          <a:prstGeom prst="roundRect">
            <a:avLst/>
          </a:prstGeom>
          <a:solidFill>
            <a:srgbClr val="E5EDE5"/>
          </a:solidFill>
          <a:ln w="9525">
            <a:noFill/>
          </a:ln>
        </p:spPr>
      </p:sp>
      <p:sp>
        <p:nvSpPr>
          <p:cNvPr id="16" name="Texto 16"/>
          <p:cNvSpPr txBox="1"/>
          <p:nvPr/>
        </p:nvSpPr>
        <p:spPr>
          <a:xfrm>
            <a:off x="762000" y="5118100"/>
            <a:ext cx="10668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1">
                <a:solidFill>
                  <a:srgbClr val="183B30"/>
                </a:solidFill>
                <a:latin typeface="Aptos"/>
              </a:rPr>
              <a:t>Por quê? A operação local pode continuar sem internet,</a:t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1">
                <a:solidFill>
                  <a:srgbClr val="183B30"/>
                </a:solidFill>
                <a:latin typeface="Aptos"/>
              </a:rPr>
              <a:t>enquanto o histórico remoto aguarda a conexão voltar.</a:t>
            </a:r>
            <a:endParaRPr lang="pt-BR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Três camadas, uma responsabilidade em cada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Separar as tarefas permite decidir perto dos dados e guardar o histórico longe.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2/6</a:t>
            </a:r>
            <a:endParaRPr lang="pt-BR" sz="1000"/>
          </a:p>
        </p:txBody>
      </p:sp>
      <p:sp>
        <p:nvSpPr>
          <p:cNvPr id="8" name="Bloco 8"/>
          <p:cNvSpPr/>
          <p:nvPr/>
        </p:nvSpPr>
        <p:spPr>
          <a:xfrm>
            <a:off x="533400" y="2070100"/>
            <a:ext cx="3352800" cy="2171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762000" y="2286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EDGE  •  execução</a:t>
            </a:r>
            <a:endParaRPr lang="pt-BR" sz="2000"/>
          </a:p>
        </p:txBody>
      </p:sp>
      <p:sp>
        <p:nvSpPr>
          <p:cNvPr id="10" name="Texto 10"/>
          <p:cNvSpPr txBox="1"/>
          <p:nvPr/>
        </p:nvSpPr>
        <p:spPr>
          <a:xfrm>
            <a:off x="762000" y="2819400"/>
            <a:ext cx="28956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Simula as medições e executa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comandos dos caminhões.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É a ponta do sistema.</a:t>
            </a:r>
            <a:endParaRPr lang="pt-BR" sz="1600"/>
          </a:p>
        </p:txBody>
      </p:sp>
      <p:sp>
        <p:nvSpPr>
          <p:cNvPr id="11" name="Texto 11"/>
          <p:cNvSpPr txBox="1"/>
          <p:nvPr/>
        </p:nvSpPr>
        <p:spPr>
          <a:xfrm>
            <a:off x="4000500" y="2908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400" b="1">
                <a:solidFill>
                  <a:srgbClr val="167655"/>
                </a:solidFill>
                <a:latin typeface="Aptos"/>
              </a:rPr>
              <a:t>→</a:t>
            </a:r>
            <a:endParaRPr lang="pt-BR" sz="2400"/>
          </a:p>
        </p:txBody>
      </p:sp>
      <p:sp>
        <p:nvSpPr>
          <p:cNvPr id="12" name="Bloco 12"/>
          <p:cNvSpPr/>
          <p:nvPr/>
        </p:nvSpPr>
        <p:spPr>
          <a:xfrm>
            <a:off x="4419600" y="2070100"/>
            <a:ext cx="3352800" cy="2171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3" name="Texto 13"/>
          <p:cNvSpPr txBox="1"/>
          <p:nvPr/>
        </p:nvSpPr>
        <p:spPr>
          <a:xfrm>
            <a:off x="4648200" y="2286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FOG  •  coordenação</a:t>
            </a:r>
            <a:endParaRPr lang="pt-BR" sz="2000"/>
          </a:p>
        </p:txBody>
      </p:sp>
      <p:sp>
        <p:nvSpPr>
          <p:cNvPr id="14" name="Texto 14"/>
          <p:cNvSpPr txBox="1"/>
          <p:nvPr/>
        </p:nvSpPr>
        <p:spPr>
          <a:xfrm>
            <a:off x="4648200" y="2819400"/>
            <a:ext cx="28956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Roda no computador local.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Decide rotas, guarda leituras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 atende ao painel.</a:t>
            </a:r>
            <a:endParaRPr lang="pt-BR" sz="1600"/>
          </a:p>
        </p:txBody>
      </p:sp>
      <p:sp>
        <p:nvSpPr>
          <p:cNvPr id="15" name="Texto 15"/>
          <p:cNvSpPr txBox="1"/>
          <p:nvPr/>
        </p:nvSpPr>
        <p:spPr>
          <a:xfrm>
            <a:off x="7886700" y="2908300"/>
            <a:ext cx="27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400" b="1">
                <a:solidFill>
                  <a:srgbClr val="167655"/>
                </a:solidFill>
                <a:latin typeface="Aptos"/>
              </a:rPr>
              <a:t>→</a:t>
            </a:r>
            <a:endParaRPr lang="pt-BR" sz="2400"/>
          </a:p>
        </p:txBody>
      </p:sp>
      <p:sp>
        <p:nvSpPr>
          <p:cNvPr id="16" name="Bloco 16"/>
          <p:cNvSpPr/>
          <p:nvPr/>
        </p:nvSpPr>
        <p:spPr>
          <a:xfrm>
            <a:off x="8305800" y="2070100"/>
            <a:ext cx="3352800" cy="2171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7" name="Texto 17"/>
          <p:cNvSpPr txBox="1"/>
          <p:nvPr/>
        </p:nvSpPr>
        <p:spPr>
          <a:xfrm>
            <a:off x="8534400" y="2286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NUVEM  •  histórico</a:t>
            </a:r>
            <a:endParaRPr lang="pt-BR" sz="2000"/>
          </a:p>
        </p:txBody>
      </p:sp>
      <p:sp>
        <p:nvSpPr>
          <p:cNvPr id="18" name="Texto 18"/>
          <p:cNvSpPr txBox="1"/>
          <p:nvPr/>
        </p:nvSpPr>
        <p:spPr>
          <a:xfrm>
            <a:off x="8534400" y="2819400"/>
            <a:ext cx="28956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Servidor remoto que recebe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 armazena os dados.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Supabase = serviço de nuvem.</a:t>
            </a:r>
            <a:endParaRPr lang="pt-BR" sz="1600"/>
          </a:p>
        </p:txBody>
      </p:sp>
      <p:sp>
        <p:nvSpPr>
          <p:cNvPr id="19" name="Bloco 19"/>
          <p:cNvSpPr/>
          <p:nvPr/>
        </p:nvSpPr>
        <p:spPr>
          <a:xfrm>
            <a:off x="533400" y="4495800"/>
            <a:ext cx="11125200" cy="1371600"/>
          </a:xfrm>
          <a:prstGeom prst="roundRect">
            <a:avLst/>
          </a:prstGeom>
          <a:solidFill>
            <a:srgbClr val="E5EDE5"/>
          </a:solidFill>
          <a:ln w="9525">
            <a:noFill/>
          </a:ln>
        </p:spPr>
      </p:sp>
      <p:sp>
        <p:nvSpPr>
          <p:cNvPr id="20" name="Texto 20"/>
          <p:cNvSpPr txBox="1"/>
          <p:nvPr/>
        </p:nvSpPr>
        <p:spPr>
          <a:xfrm>
            <a:off x="762000" y="4660900"/>
            <a:ext cx="106299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MQTT: troca mensagens entre edge e fog.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Broker: recebe essas mensagens e encaminha aos interessados.</a:t>
            </a:r>
            <a:endParaRPr lang="pt-BR" sz="1600"/>
          </a:p>
        </p:txBody>
      </p:sp>
      <p:sp>
        <p:nvSpPr>
          <p:cNvPr id="21" name="Texto 21"/>
          <p:cNvSpPr txBox="1"/>
          <p:nvPr/>
        </p:nvSpPr>
        <p:spPr>
          <a:xfrm>
            <a:off x="762000" y="5321300"/>
            <a:ext cx="106299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1">
                <a:solidFill>
                  <a:srgbClr val="183B30"/>
                </a:solidFill>
                <a:latin typeface="Aptos"/>
              </a:rPr>
              <a:t>HTTPS: protege o envio da fog para a nuvem pela internet.</a:t>
            </a:r>
            <a:endParaRPr lang="pt-BR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Se a internet cair, o que acontece?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O processamento local continua; o histórico remoto deixa de ser atualizado.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3/6</a:t>
            </a:r>
            <a:endParaRPr lang="pt-BR" sz="1000"/>
          </a:p>
        </p:txBody>
      </p:sp>
      <p:sp>
        <p:nvSpPr>
          <p:cNvPr id="8" name="Bloco 8"/>
          <p:cNvSpPr/>
          <p:nvPr/>
        </p:nvSpPr>
        <p:spPr>
          <a:xfrm>
            <a:off x="533400" y="2032000"/>
            <a:ext cx="3505200" cy="19558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762000" y="22479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1  •  Sem conexão</a:t>
            </a:r>
            <a:endParaRPr lang="pt-BR" sz="2000"/>
          </a:p>
        </p:txBody>
      </p:sp>
      <p:sp>
        <p:nvSpPr>
          <p:cNvPr id="10" name="Texto 10"/>
          <p:cNvSpPr txBox="1"/>
          <p:nvPr/>
        </p:nvSpPr>
        <p:spPr>
          <a:xfrm>
            <a:off x="762000" y="2781300"/>
            <a:ext cx="30480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 fog guarda as leituras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em uma fila persistente.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Fila = dados ainda não enviados.</a:t>
            </a:r>
            <a:endParaRPr lang="pt-BR" sz="1600"/>
          </a:p>
        </p:txBody>
      </p:sp>
      <p:sp>
        <p:nvSpPr>
          <p:cNvPr id="11" name="Bloco 11"/>
          <p:cNvSpPr/>
          <p:nvPr/>
        </p:nvSpPr>
        <p:spPr>
          <a:xfrm>
            <a:off x="4343400" y="2032000"/>
            <a:ext cx="3505200" cy="19558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2" name="Texto 12"/>
          <p:cNvSpPr txBox="1"/>
          <p:nvPr/>
        </p:nvSpPr>
        <p:spPr>
          <a:xfrm>
            <a:off x="4572000" y="22479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2  •  Durante a falha</a:t>
            </a:r>
            <a:endParaRPr lang="pt-BR" sz="2000"/>
          </a:p>
        </p:txBody>
      </p:sp>
      <p:sp>
        <p:nvSpPr>
          <p:cNvPr id="13" name="Texto 13"/>
          <p:cNvSpPr txBox="1"/>
          <p:nvPr/>
        </p:nvSpPr>
        <p:spPr>
          <a:xfrm>
            <a:off x="4572000" y="2781300"/>
            <a:ext cx="30480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O painel e as decisões locais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continuam, se computador,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fog e broker estiverem ativos.</a:t>
            </a:r>
            <a:endParaRPr lang="pt-BR" sz="1600"/>
          </a:p>
        </p:txBody>
      </p:sp>
      <p:sp>
        <p:nvSpPr>
          <p:cNvPr id="14" name="Bloco 14"/>
          <p:cNvSpPr/>
          <p:nvPr/>
        </p:nvSpPr>
        <p:spPr>
          <a:xfrm>
            <a:off x="8153400" y="2032000"/>
            <a:ext cx="3505200" cy="19558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5" name="Texto 15"/>
          <p:cNvSpPr txBox="1"/>
          <p:nvPr/>
        </p:nvSpPr>
        <p:spPr>
          <a:xfrm>
            <a:off x="8382000" y="22479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3  •  Conexão voltou</a:t>
            </a:r>
            <a:endParaRPr lang="pt-BR" sz="2000"/>
          </a:p>
        </p:txBody>
      </p:sp>
      <p:sp>
        <p:nvSpPr>
          <p:cNvPr id="16" name="Texto 16"/>
          <p:cNvSpPr txBox="1"/>
          <p:nvPr/>
        </p:nvSpPr>
        <p:spPr>
          <a:xfrm>
            <a:off x="8382000" y="2781300"/>
            <a:ext cx="304800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 fog reenvia em lotes.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Lote = conjunto de leituras.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IDs estáveis evitam duplicatas.</a:t>
            </a:r>
            <a:endParaRPr lang="pt-BR" sz="1600"/>
          </a:p>
        </p:txBody>
      </p:sp>
      <p:sp>
        <p:nvSpPr>
          <p:cNvPr id="17" name="Bloco 17"/>
          <p:cNvSpPr/>
          <p:nvPr/>
        </p:nvSpPr>
        <p:spPr>
          <a:xfrm>
            <a:off x="533400" y="4241800"/>
            <a:ext cx="11125200" cy="736600"/>
          </a:xfrm>
          <a:prstGeom prst="roundRect">
            <a:avLst/>
          </a:prstGeom>
          <a:solidFill>
            <a:srgbClr val="E5EDE5"/>
          </a:solidFill>
          <a:ln w="9525">
            <a:noFill/>
          </a:ln>
        </p:spPr>
      </p:sp>
      <p:sp>
        <p:nvSpPr>
          <p:cNvPr id="18" name="Texto 18"/>
          <p:cNvSpPr txBox="1"/>
          <p:nvPr/>
        </p:nvSpPr>
        <p:spPr>
          <a:xfrm>
            <a:off x="762000" y="44069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1">
                <a:solidFill>
                  <a:srgbClr val="183B30"/>
                </a:solidFill>
                <a:latin typeface="Aptos"/>
              </a:rPr>
              <a:t>SQLite = banco local em arquivo que conserva a fila após reiniciar.</a:t>
            </a:r>
            <a:endParaRPr lang="pt-BR" sz="1600"/>
          </a:p>
        </p:txBody>
      </p:sp>
      <p:sp>
        <p:nvSpPr>
          <p:cNvPr id="19" name="Bloco 19"/>
          <p:cNvSpPr/>
          <p:nvPr/>
        </p:nvSpPr>
        <p:spPr>
          <a:xfrm>
            <a:off x="533400" y="5168900"/>
            <a:ext cx="11125200" cy="711200"/>
          </a:xfrm>
          <a:prstGeom prst="roundRect">
            <a:avLst/>
          </a:prstGeom>
          <a:solidFill>
            <a:srgbClr val="F2E8D5"/>
          </a:solidFill>
          <a:ln w="9525">
            <a:noFill/>
          </a:ln>
        </p:spPr>
      </p:sp>
      <p:sp>
        <p:nvSpPr>
          <p:cNvPr id="20" name="Texto 20"/>
          <p:cNvSpPr txBox="1"/>
          <p:nvPr/>
        </p:nvSpPr>
        <p:spPr>
          <a:xfrm>
            <a:off x="762000" y="52959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400" b="0">
                <a:solidFill>
                  <a:srgbClr val="936017"/>
                </a:solidFill>
                <a:latin typeface="Aptos"/>
              </a:rPr>
              <a:t>Limite: disco cheio ou falha no computador podem interromper o processo.</a:t>
            </a:r>
            <a:endParaRPr lang="pt-BR" sz="14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400" b="0">
                <a:solidFill>
                  <a:srgbClr val="936017"/>
                </a:solidFill>
                <a:latin typeface="Aptos"/>
              </a:rPr>
              <a:t>Pendente significa “aguardando envio”; não comprova perda nem entrega.</a:t>
            </a:r>
            <a:endParaRPr lang="pt-BR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As melhorias deixam os dados mais úteis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Cada mudança resolve um problema específico de integração ou qualidade.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4/6</a:t>
            </a:r>
            <a:endParaRPr lang="pt-BR" sz="1000"/>
          </a:p>
        </p:txBody>
      </p:sp>
      <p:sp>
        <p:nvSpPr>
          <p:cNvPr id="8" name="Bloco 8"/>
          <p:cNvSpPr/>
          <p:nvPr/>
        </p:nvSpPr>
        <p:spPr>
          <a:xfrm>
            <a:off x="533400" y="1981200"/>
            <a:ext cx="5410200" cy="17399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762000" y="21971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Uma mensagem padrão</a:t>
            </a:r>
            <a:endParaRPr lang="pt-BR" sz="2000"/>
          </a:p>
        </p:txBody>
      </p:sp>
      <p:sp>
        <p:nvSpPr>
          <p:cNvPr id="10" name="Texto 10"/>
          <p:cNvSpPr txBox="1"/>
          <p:nvPr/>
        </p:nvSpPr>
        <p:spPr>
          <a:xfrm>
            <a:off x="762000" y="2730500"/>
            <a:ext cx="4953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Contrato canônico = formato comum dos dados.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Ex.: sensor, horário, medida e unidade.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Evita interpretar cada sensor de um jeito.</a:t>
            </a:r>
            <a:endParaRPr lang="pt-BR" sz="1600"/>
          </a:p>
        </p:txBody>
      </p:sp>
      <p:sp>
        <p:nvSpPr>
          <p:cNvPr id="11" name="Bloco 11"/>
          <p:cNvSpPr/>
          <p:nvPr/>
        </p:nvSpPr>
        <p:spPr>
          <a:xfrm>
            <a:off x="6248400" y="1981200"/>
            <a:ext cx="5410200" cy="17399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2" name="Texto 12"/>
          <p:cNvSpPr txBox="1"/>
          <p:nvPr/>
        </p:nvSpPr>
        <p:spPr>
          <a:xfrm>
            <a:off x="6477000" y="21971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Cadastro dos sensores</a:t>
            </a:r>
            <a:endParaRPr lang="pt-BR" sz="2000"/>
          </a:p>
        </p:txBody>
      </p:sp>
      <p:sp>
        <p:nvSpPr>
          <p:cNvPr id="13" name="Texto 13"/>
          <p:cNvSpPr txBox="1"/>
          <p:nvPr/>
        </p:nvSpPr>
        <p:spPr>
          <a:xfrm>
            <a:off x="6477000" y="2730500"/>
            <a:ext cx="4953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Catálogo = registro dos dispositivos e locais.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Perfil = medidas e limites esperados.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API = interface para cadastrar por programas.</a:t>
            </a:r>
            <a:endParaRPr lang="pt-BR" sz="1600"/>
          </a:p>
        </p:txBody>
      </p:sp>
      <p:sp>
        <p:nvSpPr>
          <p:cNvPr id="14" name="Bloco 14"/>
          <p:cNvSpPr/>
          <p:nvPr/>
        </p:nvSpPr>
        <p:spPr>
          <a:xfrm>
            <a:off x="533400" y="3937000"/>
            <a:ext cx="5410200" cy="1917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5" name="Texto 15"/>
          <p:cNvSpPr txBox="1"/>
          <p:nvPr/>
        </p:nvSpPr>
        <p:spPr>
          <a:xfrm>
            <a:off x="762000" y="41529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Erros separados por mensagem</a:t>
            </a:r>
            <a:endParaRPr lang="pt-BR" sz="2000"/>
          </a:p>
        </p:txBody>
      </p:sp>
      <p:sp>
        <p:nvSpPr>
          <p:cNvPr id="16" name="Texto 16"/>
          <p:cNvSpPr txBox="1"/>
          <p:nvPr/>
        </p:nvSpPr>
        <p:spPr>
          <a:xfrm>
            <a:off x="762000" y="4686300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Quarentena = dados inválidos + motivo do erro.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As mensagens válidas seguem o fluxo.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Um erro deixa de bloquear todo o lote.</a:t>
            </a:r>
            <a:endParaRPr lang="pt-BR" sz="1600"/>
          </a:p>
        </p:txBody>
      </p:sp>
      <p:sp>
        <p:nvSpPr>
          <p:cNvPr id="17" name="Bloco 17"/>
          <p:cNvSpPr/>
          <p:nvPr/>
        </p:nvSpPr>
        <p:spPr>
          <a:xfrm>
            <a:off x="6248400" y="3937000"/>
            <a:ext cx="5410200" cy="19177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8" name="Texto 18"/>
          <p:cNvSpPr txBox="1"/>
          <p:nvPr/>
        </p:nvSpPr>
        <p:spPr>
          <a:xfrm>
            <a:off x="6477000" y="41529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Histórico na hora correta</a:t>
            </a:r>
            <a:endParaRPr lang="pt-BR" sz="2000"/>
          </a:p>
        </p:txBody>
      </p:sp>
      <p:sp>
        <p:nvSpPr>
          <p:cNvPr id="19" name="Texto 19"/>
          <p:cNvSpPr txBox="1"/>
          <p:nvPr/>
        </p:nvSpPr>
        <p:spPr>
          <a:xfrm>
            <a:off x="6477000" y="4686300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A leitura atrasada entra pelo horário da medição.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O estado atual mantém a leitura mais recente.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Evita voltar o painel para um valor antigo.</a:t>
            </a:r>
            <a:endParaRPr lang="pt-BR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Um teste mostra o efeito da validação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Dados sintéticos: 5.000 mensagens enviadas no mesmo lote.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5/6</a:t>
            </a:r>
            <a:endParaRPr lang="pt-BR" sz="1000"/>
          </a:p>
        </p:txBody>
      </p:sp>
      <p:sp>
        <p:nvSpPr>
          <p:cNvPr id="8" name="Texto 8"/>
          <p:cNvSpPr txBox="1"/>
          <p:nvPr/>
        </p:nvSpPr>
        <p:spPr>
          <a:xfrm>
            <a:off x="533400" y="2032000"/>
            <a:ext cx="5461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900" b="1">
                <a:solidFill>
                  <a:srgbClr val="167655"/>
                </a:solidFill>
                <a:latin typeface="Aptos"/>
              </a:rPr>
              <a:t>4.997 aceitas</a:t>
            </a:r>
            <a:endParaRPr lang="pt-BR" sz="2900"/>
          </a:p>
        </p:txBody>
      </p:sp>
      <p:sp>
        <p:nvSpPr>
          <p:cNvPr id="9" name="Texto 9"/>
          <p:cNvSpPr txBox="1"/>
          <p:nvPr/>
        </p:nvSpPr>
        <p:spPr>
          <a:xfrm>
            <a:off x="533400" y="25781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5F736B"/>
                </a:solidFill>
                <a:latin typeface="Aptos"/>
              </a:rPr>
              <a:t>99,94% do lote passou pela validação.</a:t>
            </a:r>
            <a:endParaRPr lang="pt-BR" sz="1600"/>
          </a:p>
        </p:txBody>
      </p:sp>
      <p:sp>
        <p:nvSpPr>
          <p:cNvPr id="10" name="Bloco 10"/>
          <p:cNvSpPr/>
          <p:nvPr/>
        </p:nvSpPr>
        <p:spPr>
          <a:xfrm>
            <a:off x="533400" y="3098800"/>
            <a:ext cx="8255000" cy="3683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11" name="Bloco 11"/>
          <p:cNvSpPr/>
          <p:nvPr/>
        </p:nvSpPr>
        <p:spPr>
          <a:xfrm>
            <a:off x="533400" y="3098800"/>
            <a:ext cx="8250047" cy="368300"/>
          </a:xfrm>
          <a:prstGeom prst="rect">
            <a:avLst/>
          </a:prstGeom>
          <a:solidFill>
            <a:srgbClr val="167655"/>
          </a:solidFill>
          <a:ln w="9525">
            <a:noFill/>
          </a:ln>
        </p:spPr>
      </p:sp>
      <p:sp>
        <p:nvSpPr>
          <p:cNvPr id="12" name="Bloco 12"/>
          <p:cNvSpPr/>
          <p:nvPr/>
        </p:nvSpPr>
        <p:spPr>
          <a:xfrm>
            <a:off x="8783447" y="3098800"/>
            <a:ext cx="4953" cy="368300"/>
          </a:xfrm>
          <a:prstGeom prst="rect">
            <a:avLst/>
          </a:prstGeom>
          <a:solidFill>
            <a:srgbClr val="936017"/>
          </a:solidFill>
          <a:ln w="9525">
            <a:noFill/>
          </a:ln>
        </p:spPr>
      </p:sp>
      <p:sp>
        <p:nvSpPr>
          <p:cNvPr id="13" name="Texto 13"/>
          <p:cNvSpPr txBox="1"/>
          <p:nvPr/>
        </p:nvSpPr>
        <p:spPr>
          <a:xfrm>
            <a:off x="533400" y="3695700"/>
            <a:ext cx="6731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600" b="1">
                <a:solidFill>
                  <a:srgbClr val="936017"/>
                </a:solidFill>
                <a:latin typeface="Aptos"/>
              </a:rPr>
              <a:t>3 em quarentena  •  0,06%</a:t>
            </a:r>
            <a:endParaRPr lang="pt-BR" sz="2600"/>
          </a:p>
        </p:txBody>
      </p:sp>
      <p:sp>
        <p:nvSpPr>
          <p:cNvPr id="14" name="Texto 14"/>
          <p:cNvSpPr txBox="1"/>
          <p:nvPr/>
        </p:nvSpPr>
        <p:spPr>
          <a:xfrm>
            <a:off x="533400" y="4241800"/>
            <a:ext cx="711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Quarentena = mensagens isoladas com o motivo,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para investigar e corrigir sem travar as válidas.</a:t>
            </a:r>
            <a:endParaRPr lang="pt-BR" sz="1600"/>
          </a:p>
        </p:txBody>
      </p:sp>
      <p:sp>
        <p:nvSpPr>
          <p:cNvPr id="15" name="Bloco 15"/>
          <p:cNvSpPr/>
          <p:nvPr/>
        </p:nvSpPr>
        <p:spPr>
          <a:xfrm>
            <a:off x="9169400" y="2032000"/>
            <a:ext cx="2489200" cy="29464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6" name="Texto 16"/>
          <p:cNvSpPr txBox="1"/>
          <p:nvPr/>
        </p:nvSpPr>
        <p:spPr>
          <a:xfrm>
            <a:off x="9385300" y="2247900"/>
            <a:ext cx="2057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O ganho</a:t>
            </a:r>
            <a:endParaRPr lang="pt-BR" sz="2000"/>
          </a:p>
        </p:txBody>
      </p:sp>
      <p:sp>
        <p:nvSpPr>
          <p:cNvPr id="17" name="Texto 17"/>
          <p:cNvSpPr txBox="1"/>
          <p:nvPr/>
        </p:nvSpPr>
        <p:spPr>
          <a:xfrm>
            <a:off x="9385300" y="2768600"/>
            <a:ext cx="2044700" cy="199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>O lote avança</a:t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>parcialmente.</a:t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/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>O problema fica</a:t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>identificado para</a:t>
            </a:r>
            <a:endParaRPr lang="pt-BR" sz="17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0">
                <a:solidFill>
                  <a:srgbClr val="183B30"/>
                </a:solidFill>
                <a:latin typeface="Aptos"/>
              </a:rPr>
              <a:t>correção.</a:t>
            </a:r>
            <a:endParaRPr lang="pt-BR" sz="1700"/>
          </a:p>
        </p:txBody>
      </p:sp>
      <p:sp>
        <p:nvSpPr>
          <p:cNvPr id="18" name="Bloco 18"/>
          <p:cNvSpPr/>
          <p:nvPr/>
        </p:nvSpPr>
        <p:spPr>
          <a:xfrm>
            <a:off x="533400" y="5270500"/>
            <a:ext cx="11125200" cy="596900"/>
          </a:xfrm>
          <a:prstGeom prst="roundRect">
            <a:avLst/>
          </a:prstGeom>
          <a:solidFill>
            <a:srgbClr val="E5EDE5"/>
          </a:solidFill>
          <a:ln w="9525">
            <a:noFill/>
          </a:ln>
        </p:spPr>
      </p:sp>
      <p:sp>
        <p:nvSpPr>
          <p:cNvPr id="19" name="Texto 19"/>
          <p:cNvSpPr txBox="1"/>
          <p:nvPr/>
        </p:nvSpPr>
        <p:spPr>
          <a:xfrm>
            <a:off x="762000" y="54229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400" b="0">
                <a:solidFill>
                  <a:srgbClr val="5F736B"/>
                </a:solidFill>
                <a:latin typeface="Aptos"/>
              </a:rPr>
              <a:t>Resultado deste teste; não mede confiabilidade geral nem economia de combustível.</a:t>
            </a:r>
            <a:endParaRPr lang="pt-BR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533400" y="254000"/>
            <a:ext cx="1079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1">
                <a:solidFill>
                  <a:srgbClr val="167655"/>
                </a:solidFill>
                <a:latin typeface="Aptos"/>
              </a:rPr>
              <a:t>SMARTWASTE DF  /  ENGENHARIA DE SOFTWARE</a:t>
            </a:r>
            <a:endParaRPr lang="pt-BR" sz="1000"/>
          </a:p>
        </p:txBody>
      </p:sp>
      <p:sp>
        <p:nvSpPr>
          <p:cNvPr id="3" name="Texto 3"/>
          <p:cNvSpPr txBox="1"/>
          <p:nvPr/>
        </p:nvSpPr>
        <p:spPr>
          <a:xfrm>
            <a:off x="533400" y="685800"/>
            <a:ext cx="11125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3000" b="1">
                <a:solidFill>
                  <a:srgbClr val="183B30"/>
                </a:solidFill>
                <a:latin typeface="Aptos"/>
              </a:rPr>
              <a:t>O que ganhamos e o que falta</a:t>
            </a:r>
            <a:endParaRPr lang="pt-BR" sz="3000"/>
          </a:p>
        </p:txBody>
      </p:sp>
      <p:sp>
        <p:nvSpPr>
          <p:cNvPr id="4" name="Texto 4"/>
          <p:cNvSpPr txBox="1"/>
          <p:nvPr/>
        </p:nvSpPr>
        <p:spPr>
          <a:xfrm>
            <a:off x="533400" y="1371600"/>
            <a:ext cx="11125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Melhor organização e continuidade local, com mais componentes para cuidar.</a:t>
            </a:r>
            <a:endParaRPr lang="pt-BR" sz="1500"/>
          </a:p>
        </p:txBody>
      </p:sp>
      <p:sp>
        <p:nvSpPr>
          <p:cNvPr id="5" name="Bloco 5"/>
          <p:cNvSpPr/>
          <p:nvPr/>
        </p:nvSpPr>
        <p:spPr>
          <a:xfrm>
            <a:off x="533400" y="6197600"/>
            <a:ext cx="11125200" cy="12700"/>
          </a:xfrm>
          <a:prstGeom prst="rect">
            <a:avLst/>
          </a:prstGeom>
          <a:solidFill>
            <a:srgbClr val="CED9CF"/>
          </a:solidFill>
          <a:ln w="9525">
            <a:noFill/>
          </a:ln>
        </p:spPr>
      </p:sp>
      <p:sp>
        <p:nvSpPr>
          <p:cNvPr id="6" name="Texto 6"/>
          <p:cNvSpPr txBox="1"/>
          <p:nvPr/>
        </p:nvSpPr>
        <p:spPr>
          <a:xfrm>
            <a:off x="533400" y="6375400"/>
            <a:ext cx="104775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Anny • Arthur • Eduardo • Jéssica     |     20/10/2026</a:t>
            </a:r>
            <a:endParaRPr lang="pt-BR" sz="1000"/>
          </a:p>
        </p:txBody>
      </p:sp>
      <p:sp>
        <p:nvSpPr>
          <p:cNvPr id="7" name="Texto 7"/>
          <p:cNvSpPr txBox="1"/>
          <p:nvPr/>
        </p:nvSpPr>
        <p:spPr>
          <a:xfrm>
            <a:off x="11176000" y="6375400"/>
            <a:ext cx="4826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000" b="0">
                <a:solidFill>
                  <a:srgbClr val="5F736B"/>
                </a:solidFill>
                <a:latin typeface="Aptos"/>
              </a:rPr>
              <a:t>6/6</a:t>
            </a:r>
            <a:endParaRPr lang="pt-BR" sz="1000"/>
          </a:p>
        </p:txBody>
      </p:sp>
      <p:sp>
        <p:nvSpPr>
          <p:cNvPr id="8" name="Bloco 8"/>
          <p:cNvSpPr/>
          <p:nvPr/>
        </p:nvSpPr>
        <p:spPr>
          <a:xfrm>
            <a:off x="533400" y="1968500"/>
            <a:ext cx="5410200" cy="2133600"/>
          </a:xfrm>
          <a:prstGeom prst="round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9" name="Texto 9"/>
          <p:cNvSpPr txBox="1"/>
          <p:nvPr/>
        </p:nvSpPr>
        <p:spPr>
          <a:xfrm>
            <a:off x="762000" y="21844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167655"/>
                </a:solidFill>
                <a:latin typeface="Aptos"/>
              </a:rPr>
              <a:t>Ganhos</a:t>
            </a:r>
            <a:endParaRPr lang="pt-BR" sz="2000"/>
          </a:p>
        </p:txBody>
      </p:sp>
      <p:sp>
        <p:nvSpPr>
          <p:cNvPr id="10" name="Texto 10"/>
          <p:cNvSpPr txBox="1"/>
          <p:nvPr/>
        </p:nvSpPr>
        <p:spPr>
          <a:xfrm>
            <a:off x="762000" y="2717800"/>
            <a:ext cx="4953000" cy="128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Decisões locais durante a falta de internet.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Histórico organizado e erros rastreáveis.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Sensores diferentes usam o mesmo formato.</a:t>
            </a:r>
            <a:endParaRPr lang="pt-BR" sz="1600"/>
          </a:p>
        </p:txBody>
      </p:sp>
      <p:sp>
        <p:nvSpPr>
          <p:cNvPr id="11" name="Bloco 11"/>
          <p:cNvSpPr/>
          <p:nvPr/>
        </p:nvSpPr>
        <p:spPr>
          <a:xfrm>
            <a:off x="6248400" y="1968500"/>
            <a:ext cx="5410200" cy="2133600"/>
          </a:xfrm>
          <a:prstGeom prst="roundRect">
            <a:avLst/>
          </a:prstGeom>
          <a:solidFill>
            <a:srgbClr val="F2E8D5"/>
          </a:solidFill>
          <a:ln w="9525">
            <a:noFill/>
          </a:ln>
        </p:spPr>
      </p:sp>
      <p:sp>
        <p:nvSpPr>
          <p:cNvPr id="12" name="Texto 12"/>
          <p:cNvSpPr txBox="1"/>
          <p:nvPr/>
        </p:nvSpPr>
        <p:spPr>
          <a:xfrm>
            <a:off x="6477000" y="21844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2000" b="1">
                <a:solidFill>
                  <a:srgbClr val="936017"/>
                </a:solidFill>
                <a:latin typeface="Aptos"/>
              </a:rPr>
              <a:t>Custos e limites</a:t>
            </a:r>
            <a:endParaRPr lang="pt-BR" sz="2000"/>
          </a:p>
        </p:txBody>
      </p:sp>
      <p:sp>
        <p:nvSpPr>
          <p:cNvPr id="13" name="Texto 13"/>
          <p:cNvSpPr txBox="1"/>
          <p:nvPr/>
        </p:nvSpPr>
        <p:spPr>
          <a:xfrm>
            <a:off x="6477000" y="2717800"/>
            <a:ext cx="4953000" cy="1282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Mais processos e espaço em disco.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Dados remotos ficam atrasados sem internet.</a:t>
            </a:r>
            <a:endParaRPr lang="pt-BR" sz="16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0">
                <a:solidFill>
                  <a:srgbClr val="183B30"/>
                </a:solidFill>
                <a:latin typeface="Aptos"/>
              </a:rPr>
              <a:t>Supabase Free = plano gratuito com cotas.</a:t>
            </a:r>
            <a:endParaRPr lang="pt-BR" sz="1600"/>
          </a:p>
        </p:txBody>
      </p:sp>
      <p:sp>
        <p:nvSpPr>
          <p:cNvPr id="14" name="Texto 14"/>
          <p:cNvSpPr txBox="1"/>
          <p:nvPr/>
        </p:nvSpPr>
        <p:spPr>
          <a:xfrm>
            <a:off x="533400" y="4330700"/>
            <a:ext cx="11125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700" b="1">
                <a:solidFill>
                  <a:srgbClr val="183B30"/>
                </a:solidFill>
                <a:latin typeface="Aptos"/>
              </a:rPr>
              <a:t>Evidências registradas: 60 testes Python + 28 JavaScript aprovados.</a:t>
            </a:r>
            <a:endParaRPr lang="pt-BR" sz="1700"/>
          </a:p>
        </p:txBody>
      </p:sp>
      <p:sp>
        <p:nvSpPr>
          <p:cNvPr id="15" name="Texto 15"/>
          <p:cNvSpPr txBox="1"/>
          <p:nvPr/>
        </p:nvSpPr>
        <p:spPr>
          <a:xfrm>
            <a:off x="533400" y="4826000"/>
            <a:ext cx="111252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Próximo passo: implantar o novo recebimento de sensores na nuvem.</a:t>
            </a:r>
            <a:endParaRPr lang="pt-BR" sz="1500"/>
          </a:p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500" b="0">
                <a:solidFill>
                  <a:srgbClr val="5F736B"/>
                </a:solidFill>
                <a:latin typeface="Aptos"/>
              </a:rPr>
              <a:t>O novo fluxo foi validado localmente; essa implantação remota está pendente.</a:t>
            </a:r>
            <a:endParaRPr lang="pt-BR" sz="1500"/>
          </a:p>
        </p:txBody>
      </p:sp>
      <p:sp>
        <p:nvSpPr>
          <p:cNvPr id="16" name="Texto 16"/>
          <p:cNvSpPr txBox="1"/>
          <p:nvPr/>
        </p:nvSpPr>
        <p:spPr>
          <a:xfrm>
            <a:off x="533400" y="5651500"/>
            <a:ext cx="11125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50"/>
              </a:spcAft>
            </a:pPr>
            <a:r>
              <a:rPr lang="pt-BR" sz="1600" b="1">
                <a:solidFill>
                  <a:srgbClr val="167655"/>
                </a:solidFill>
                <a:latin typeface="Aptos"/>
                <a:hlinkClick r:id="rId2"/>
              </a:rPr>
              <a:t>github.com/annygabb/IoT---Coleta</a:t>
            </a:r>
            <a:endParaRPr lang="pt-B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Waste">
  <a:themeElements>
    <a:clrScheme name="SmartWaste">
      <a:dk1>
        <a:srgbClr val="183B30"/>
      </a:dk1>
      <a:lt1>
        <a:srgbClr val="FFFFFF"/>
      </a:lt1>
      <a:dk2>
        <a:srgbClr val="5F736B"/>
      </a:dk2>
      <a:lt2>
        <a:srgbClr val="F5F5EF"/>
      </a:lt2>
      <a:accent1>
        <a:srgbClr val="167655"/>
      </a:accent1>
      <a:accent2>
        <a:srgbClr val="936017"/>
      </a:accent2>
      <a:accent3>
        <a:srgbClr val="5F736B"/>
      </a:accent3>
      <a:accent4>
        <a:srgbClr val="CED9CF"/>
      </a:accent4>
      <a:accent5>
        <a:srgbClr val="E5EDE5"/>
      </a:accent5>
      <a:accent6>
        <a:srgbClr val="F2E8D5"/>
      </a:accent6>
      <a:hlink>
        <a:srgbClr val="167655"/>
      </a:hlink>
      <a:folHlink>
        <a:srgbClr val="936017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martWaste">
      <a:fillStyleLst>
        <a:solidFill>
          <a:srgbClr val="FFFFFF"/>
        </a:solidFill>
        <a:solidFill>
          <a:srgbClr val="E5EDE5"/>
        </a:solidFill>
        <a:solidFill>
          <a:srgbClr val="167655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90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28575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5F5EF"/>
        </a:solidFill>
        <a:solidFill>
          <a:srgbClr val="E5EDE5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SmartWaste DF</Application>
  <PresentationFormat>On-screen Show (16:9)</PresentationFormat>
  <Slides>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SmartWaste DF — apresentação resumida em 6 slides</dc:title>
  <dc:creator>Anny, Arthur, Eduardo e Jéssica</dc:creator>
  <dc:description>Arquitetura, operação sem internet, qualidade dos dados e limites da integração.</dc:description>
  <cp:lastModifiedBy>Anny, Arthur, Eduardo e Jéssica</cp:lastModifiedBy>
  <dcterms:created xsi:type="dcterms:W3CDTF">2026-10-20T18:42:04Z</dcterms:created>
  <dcterms:modified xsi:type="dcterms:W3CDTF">2026-10-20T18:42:04Z</dcterms:modified>
</cp:coreProperties>
</file>